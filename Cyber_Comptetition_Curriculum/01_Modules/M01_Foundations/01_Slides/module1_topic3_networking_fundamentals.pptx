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 for Network Diagnostics &amp; Port Mapping. Orient students on core learning objectives and hands-on competition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Notes: Compare OSI 7-Layer Reference Model against TCP/IP Practical Suite. Highlight competition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Notes: Detailed comparison matrix for Essential Cyber Competition Port &amp; Protocol Reference Mapping. Direct students to key differentiation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Notes: Walk through key pillars: Network Diagnostic Utilities Test Host Connectivity and Route Pathways. Emphasize key metrics and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Notes: Compare Host Socket Inspection (Passive Triage) against Nmap Active Port Discovery. Highlight competition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Notes: Compare Key Takeaways &amp; Core Concepts against Hands-On Competition Action Plan. Highlight competition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284C7"/>
                </a:solidFill>
                <a:latin typeface="Arial"/>
              </a:defRPr>
            </a:pPr>
            <a:r>
              <a:t>MODULE 1.3 — CYBER COMPETITION CURRICULUM</a:t>
            </a:r>
          </a:p>
          <a:p>
            <a:pPr>
              <a:spcAft>
                <a:spcPts val="1800"/>
              </a:spcAft>
              <a:defRPr sz="3600" b="1">
                <a:solidFill>
                  <a:srgbClr val="F8FAFC"/>
                </a:solidFill>
                <a:latin typeface="Georgia"/>
              </a:defRPr>
            </a:pPr>
            <a:r>
              <a:t>Network Diagnostics &amp; Port Mapping</a:t>
            </a:r>
          </a:p>
          <a:p>
            <a:pPr>
              <a:defRPr sz="1800">
                <a:solidFill>
                  <a:srgbClr val="64748B"/>
                </a:solidFill>
                <a:latin typeface="Arial"/>
              </a:defRPr>
            </a:pPr>
            <a:r>
              <a:t>OSI Layer Mapping, Protocol Analysis, Socket Inspection, and Port Scanning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6692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Instructor Lecture Deck | Foundations Domain | Cyber Competition Training Initiative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MODULE 1.3: NETWORKING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OSI 7-Layer vs. TCP/IP Architecture Guides Network Troubleshooting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000" b="1">
                <a:solidFill>
                  <a:srgbClr val="2563EB"/>
                </a:solidFill>
                <a:latin typeface="Georgia"/>
              </a:defRPr>
            </a:pPr>
            <a:r>
              <a:t>OSI 7-Layer Reference Model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7. Application — HTTP, SSH, DNS, FTP (User interface data)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6. Presentation — Encryption, data formatting, SSL/TLS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5. Session — Session establishment and maintenance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4. Transport — End-to-end ports, TCP (reliable) vs UDP (fast)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3. Network — IP addressing, routing packets across networks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2. Data Link — MAC addresses, Ethernet framing, switches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1. Physical — Binary bits, copper cables, fiber, wireless signals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Georgia"/>
              </a:defRPr>
            </a:pPr>
            <a:r>
              <a:t>TCP/IP Practical Suite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Application Layer — Combines OSI Layers 5, 6, and 7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Transport Layer — TCP segments / UDP datagrams with port numbers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Internet Layer — IP packet routing across network hops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Network Access Layer — Physical hardware frames and MAC mappings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MODULE 1.3: NETWORKING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Essential Cyber Competition Port &amp; Protocol Reference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571500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Port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Protocol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Transport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Description &amp; Competition Context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File Transfer Protocol (Cleartext authentication vector)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SSH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Secure Shell (Encrypted remote management standard)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Telnet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Insecure Remote Terminal (Cleartext legacy management)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SMTP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Simple Mail Transfer Protocol (Mail server communication)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UDP / TCP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Domain Name System (Hostname resolution &amp; zone transfers)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80 / 443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HTTP / HTTPS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Web Services (Cleartext vs SSL/TLS Encrypted traffic)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3389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Remote Desktop Protocol (Windows GUI management)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MODULE 1.3: NETWORKING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Network Diagnostic Utilities Test Host Connectivity and Route Pathways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93338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br/>
            <a:r>
              <a:t>ICMP TESTING</a:t>
            </a:r>
          </a:p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t>ping &amp; traceroute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Verifies Layer 3 IP reachability and pinpoints intermediate router hops.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93338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99178" y="1645920"/>
            <a:ext cx="3393338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0284C7"/>
                </a:solidFill>
                <a:latin typeface="Arial"/>
              </a:defRPr>
            </a:pPr>
            <a:br/>
            <a:r>
              <a:t>DNS QUERYING</a:t>
            </a:r>
          </a:p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t>dig &amp; nslookup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Queries DNS servers for A records, MX records, and zone transfers.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9178" y="1645920"/>
            <a:ext cx="3393338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66836" y="1645920"/>
            <a:ext cx="3393338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059669"/>
                </a:solidFill>
                <a:latin typeface="Arial"/>
              </a:defRPr>
            </a:pPr>
            <a:br/>
            <a:r>
              <a:t>ARP TABLE AUDIT</a:t>
            </a:r>
          </a:p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t>arp -a / ip neighbor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Maps Layer 3 IP addresses to Layer 2 physical MAC addresses.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6836" y="1645920"/>
            <a:ext cx="3393338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MODULE 1.3: NETWORKING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Socket Auditing &amp; Port Scanning Maps Unknown Target Environments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000" b="1">
                <a:solidFill>
                  <a:srgbClr val="2563EB"/>
                </a:solidFill>
                <a:latin typeface="Georgia"/>
              </a:defRPr>
            </a:pPr>
            <a:r>
              <a:t>Host Socket Inspection (Passive Triage)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sudo ss -tulpn — Lists all active TCP/UDP listening sockets with PIDs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netstat -ano — Queries active Windows socket connections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Identifies localized rogue services before active network probing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Helps blue teamers verify firewall and port binding configurations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Georgia"/>
              </a:defRPr>
            </a:pPr>
            <a:r>
              <a:t>Nmap Active Port Discovery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nmap -sn 192.168.1.0/24 — Performs ping sweep host discovery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nmap -sV -p 1-1024 &lt;target&gt; — Conducts service version scanning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nmap -sC &lt;target&gt; — Runs default NSE security audit scripts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Provides fast environment topology mapping for competition teams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MODULE 1.3: NETWORKING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Lab 1.3 Summary: Network Diagnostics &amp; Port Mapping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000" b="1">
                <a:solidFill>
                  <a:srgbClr val="2563EB"/>
                </a:solidFill>
                <a:latin typeface="Georgia"/>
              </a:defRPr>
            </a:pPr>
            <a:r>
              <a:t>Key Takeaways &amp; Core Concepts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Network troubleshooting moves systematically from Layer 1 up to Layer 7.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Recognizing standard competition ports enables rapid service identification.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Passive socket auditing (ss / netstat) precedes active probing.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Nmap scans reveal open ports, service versions, and target vulnerabilities.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Georgia"/>
              </a:defRPr>
            </a:pPr>
            <a:r>
              <a:t>Hands-On Competition Action Plan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1. Verify host IP configuration using ip address / ipconfig.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2. Test gateway connectivity using ping and traceroute.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3. Audit local listening ports using ss -tulpn.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4. Run a targeted Nmap scan to map active services in the lab network.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