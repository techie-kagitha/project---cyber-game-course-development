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slide for Virtualization Baseline &amp; Snapshot Safety. Orient students on core learning objectives and hands-on competition relevance.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Notes: Compare Type 1 Bare-Metal Hypervisors against Type 2 Hosted Hypervisors. Highlight competition scenarios.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Notes: Detailed comparison matrix for Virtual Network Adapter Adapter Modes Control Traffic Isolation Boundaries. Direct students to key differentiation criteria.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Notes: Walk through key pillars: Snapshot Management Protocols Enable Instant Lab State Recovery. Emphasize key metrics and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Notes: Compare Containment Rules against Safety Checklist. Highlight competition scenarios.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Notes: Compare Key Takeaways &amp; Core Concepts against Hands-On Competition Action Plan. Highlight competition scenarios.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645920"/>
            <a:ext cx="137160" cy="3474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0284C7"/>
                </a:solidFill>
                <a:latin typeface="Arial"/>
              </a:defRPr>
            </a:pPr>
            <a:r>
              <a:t>MODULE 1.4 — CYBER COMPETITION CURRICULUM</a:t>
            </a:r>
          </a:p>
          <a:p>
            <a:pPr>
              <a:spcAft>
                <a:spcPts val="1800"/>
              </a:spcAft>
              <a:defRPr sz="3600" b="1">
                <a:solidFill>
                  <a:srgbClr val="F8FAFC"/>
                </a:solidFill>
                <a:latin typeface="Georgia"/>
              </a:defRPr>
            </a:pPr>
            <a:r>
              <a:t>Virtualization Baseline &amp; Snapshot Safety</a:t>
            </a:r>
          </a:p>
          <a:p>
            <a:pPr>
              <a:defRPr sz="1800">
                <a:solidFill>
                  <a:srgbClr val="64748B"/>
                </a:solidFill>
                <a:latin typeface="Arial"/>
              </a:defRPr>
            </a:pPr>
            <a:r>
              <a:t>Hypervisor Architecture, Network Isolation Modes, Snapshot Management, and Sandbox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6692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Instructor Lecture Deck | Foundations Domain | Cyber Competition Training Initiative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MODULE 1.4: VIRTUALIZATION &amp; LAB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400" b="1">
                <a:solidFill>
                  <a:srgbClr val="0F172A"/>
                </a:solidFill>
                <a:latin typeface="Georgia"/>
              </a:defRPr>
            </a:pPr>
            <a:r>
              <a:t>Hypervisor Architecture Allocates Host Hardware to Isolated Guest Systems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728655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2000" b="1">
                <a:solidFill>
                  <a:srgbClr val="2563EB"/>
                </a:solidFill>
                <a:latin typeface="Georgia"/>
              </a:defRPr>
            </a:pPr>
            <a:r>
              <a:t>Type 1 Bare-Metal Hypervisors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• Runs directly on physical server hardware without underlying OS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• Delivers high-performance enterprise virtualization (VMware ESXi, Proxmox)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• Used in data centers, cloud infrastructure, and competition ranges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• Provides robust multi-tenant hardware isolation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Georgia"/>
              </a:defRPr>
            </a:pPr>
            <a:r>
              <a:t>Type 2 Hosted Hypervisors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• Runs as an application on top of a host operating system (Windows/macOS)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• Examples include VMware Workstation, VMware Fusion, and Oracle VirtualBox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• Ideal for student lab environments, testing, and malware analysis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• Allocates virtual CPU cores, RAM, and disk storage dynamically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MODULE 1.4: VIRTUALIZATION &amp; LAB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400" b="1">
                <a:solidFill>
                  <a:srgbClr val="0F172A"/>
                </a:solidFill>
                <a:latin typeface="Georgia"/>
              </a:defRPr>
            </a:pPr>
            <a:r>
              <a:t>Virtual Network Adapter Adapter Modes Control Traffic Isolation Boundaries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728655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72865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5731"/>
                <a:gridCol w="2145731"/>
                <a:gridCol w="2145731"/>
                <a:gridCol w="2145731"/>
                <a:gridCol w="2145731"/>
              </a:tblGrid>
              <a:tr h="914400">
                <a:tc>
                  <a:txBody>
                    <a:bodyPr wrap="square"/>
                    <a:lstStyle/>
                    <a:p>
                      <a:pPr>
                        <a:defRPr sz="14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Network Mode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Traffic Routing Mechanics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Host Access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Internet Access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Cyber Competition Use Case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Bridged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VM acts as an independent physical device on host network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Direct Access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Full Access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Simulates production host on public competition range.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NAT (Default)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VM shares host IP via Network Address Translation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Isolated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Outbound Only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Safe general testing &amp; package downloads without exposing VM.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Host-Only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Isolated virtual switch shared only between host and VMs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Host &amp; VMs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No Access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Strict malware containment &amp; offline blue team exercises.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Custom / LAN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Private internal network segment connecting only VMs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No Host Access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No Access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Isolated multi-tier range topologies (Attacker vs Defender).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MODULE 1.4: VIRTUALIZATION &amp; LAB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400" b="1">
                <a:solidFill>
                  <a:srgbClr val="0F172A"/>
                </a:solidFill>
                <a:latin typeface="Georgia"/>
              </a:defRPr>
            </a:pPr>
            <a:r>
              <a:t>Snapshot Management Protocols Enable Instant Lab State Recovery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728655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93338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br/>
            <a:r>
              <a:t>BASELINE SNAPSHOT</a:t>
            </a:r>
          </a:p>
          <a:p>
            <a:pPr>
              <a:spcAft>
                <a:spcPts val="1200"/>
              </a:spcAft>
              <a:defRPr sz="2000" b="1">
                <a:solidFill>
                  <a:srgbClr val="0F172A"/>
                </a:solidFill>
                <a:latin typeface="Georgia"/>
              </a:defRPr>
            </a:pPr>
            <a:r>
              <a:t>Clean OS Install</a:t>
            </a:r>
          </a:p>
          <a:p>
            <a:pPr>
              <a:defRPr sz="1300">
                <a:solidFill>
                  <a:srgbClr val="64748B"/>
                </a:solidFill>
                <a:latin typeface="Arial"/>
              </a:defRPr>
            </a:pPr>
            <a:r>
              <a:t>Captured immediately after guest OS installation and initial configuration.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393338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99178" y="1645920"/>
            <a:ext cx="3393338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200" b="1">
                <a:solidFill>
                  <a:srgbClr val="0284C7"/>
                </a:solidFill>
                <a:latin typeface="Arial"/>
              </a:defRPr>
            </a:pPr>
            <a:br/>
            <a:r>
              <a:t>PRE-AUDIT SNAPSHOT</a:t>
            </a:r>
          </a:p>
          <a:p>
            <a:pPr>
              <a:spcAft>
                <a:spcPts val="1200"/>
              </a:spcAft>
              <a:defRPr sz="2000" b="1">
                <a:solidFill>
                  <a:srgbClr val="0F172A"/>
                </a:solidFill>
                <a:latin typeface="Georgia"/>
              </a:defRPr>
            </a:pPr>
            <a:r>
              <a:t>Prior to Changes</a:t>
            </a:r>
          </a:p>
          <a:p>
            <a:pPr>
              <a:defRPr sz="1300">
                <a:solidFill>
                  <a:srgbClr val="64748B"/>
                </a:solidFill>
                <a:latin typeface="Arial"/>
              </a:defRPr>
            </a:pPr>
            <a:r>
              <a:t>Saved before running high-risk commands, scripts, or installing target software.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99178" y="1645920"/>
            <a:ext cx="3393338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66836" y="1645920"/>
            <a:ext cx="3393338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200" b="1">
                <a:solidFill>
                  <a:srgbClr val="059669"/>
                </a:solidFill>
                <a:latin typeface="Arial"/>
              </a:defRPr>
            </a:pPr>
            <a:br/>
            <a:r>
              <a:t>INSTANT REVERSION</a:t>
            </a:r>
          </a:p>
          <a:p>
            <a:pPr>
              <a:spcAft>
                <a:spcPts val="1200"/>
              </a:spcAft>
              <a:defRPr sz="2000" b="1">
                <a:solidFill>
                  <a:srgbClr val="0F172A"/>
                </a:solidFill>
                <a:latin typeface="Georgia"/>
              </a:defRPr>
            </a:pPr>
            <a:r>
              <a:t>Rollback Workflow</a:t>
            </a:r>
          </a:p>
          <a:p>
            <a:pPr>
              <a:defRPr sz="1300">
                <a:solidFill>
                  <a:srgbClr val="64748B"/>
                </a:solidFill>
                <a:latin typeface="Arial"/>
              </a:defRPr>
            </a:pPr>
            <a:r>
              <a:t>Restores VM state in seconds when system files become corrupted or locked.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6836" y="1645920"/>
            <a:ext cx="3393338" cy="1097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MODULE 1.4: VIRTUALIZATION &amp; LAB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400" b="1">
                <a:solidFill>
                  <a:srgbClr val="0F172A"/>
                </a:solidFill>
                <a:latin typeface="Georgia"/>
              </a:defRPr>
            </a:pPr>
            <a:r>
              <a:t>Sandbox Isolation Protocols Prevent Accidental Range Corruption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728655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2000" b="1">
                <a:solidFill>
                  <a:srgbClr val="2563EB"/>
                </a:solidFill>
                <a:latin typeface="Georgia"/>
              </a:defRPr>
            </a:pPr>
            <a:r>
              <a:t>Containment Rules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• Isolate live malware or vulnerable services within Host-Only networks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• Disable shared folders and clipboard sharing during red team testing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• Verify network adapter settings before powering on vulnerable images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• Never run destructive exploits while attached to bridged production LANs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Georgia"/>
              </a:defRPr>
            </a:pPr>
            <a:r>
              <a:t>Safety Checklist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• Confirm VM network interface mode (NAT or Host-Only)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• Verify clean snapshot exists before executing untrusted code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• Monitor host resource utilization (CPU and RAM allocations)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• Document baseline network configurations for rapid rollback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MODULE 1.4: VIRTUALIZATION &amp; LAB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400" b="1">
                <a:solidFill>
                  <a:srgbClr val="0F172A"/>
                </a:solidFill>
                <a:latin typeface="Georgia"/>
              </a:defRPr>
            </a:pPr>
            <a:r>
              <a:t>Lab 1.4 Summary: Virtualization Baseline &amp; Safety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728655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2000" b="1">
                <a:solidFill>
                  <a:srgbClr val="2563EB"/>
                </a:solidFill>
                <a:latin typeface="Georgia"/>
              </a:defRPr>
            </a:pPr>
            <a:r>
              <a:t>Key Takeaways &amp; Core Concepts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• Type 2 hypervisors provide isolated sandboxes for hands-on cybersecurity training.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• Choosing the right network adapter mode (NAT vs Host-Only) enforces safety boundaries.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• Snapshots act as essential safety nets during destructive or risky lab exercises.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• Strict isolation rules prevent malware or scan traffic from leaking to host networks.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Georgia"/>
              </a:defRPr>
            </a:pPr>
            <a:r>
              <a:t>Hands-On Competition Action Plan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• 1. Configure VMware VM hardware settings (4GB RAM, 2 vCPUs).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• 2. Set network adapter to NAT for package installation.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• 3. Take a clean 'Baseline' snapshot before starting lab exercises.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• 4. Practice snapshot reversion to test lab state recovery.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