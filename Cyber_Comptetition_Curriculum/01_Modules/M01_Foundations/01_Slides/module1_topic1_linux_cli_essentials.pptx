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8BDF8"/>
                </a:solidFill>
                <a:latin typeface="Calibri"/>
              </a:defRPr>
            </a:pPr>
            <a:r>
              <a:t>MODULE 1: FOUNDATIONS OF CYBER COMPETITION</a:t>
            </a:r>
          </a:p>
          <a:p>
            <a:pPr>
              <a:spcAft>
                <a:spcPts val="1500"/>
              </a:spcAft>
              <a:defRPr sz="3800" b="1">
                <a:solidFill>
                  <a:srgbClr val="F8FAFC"/>
                </a:solidFill>
                <a:latin typeface="Georgia"/>
              </a:defRPr>
            </a:pPr>
            <a:r>
              <a:t>Topic 1: Linux CLI Essentials</a:t>
            </a:r>
          </a:p>
          <a:p>
            <a:pPr>
              <a:spcAft>
                <a:spcPts val="2500"/>
              </a:spcAft>
              <a:defRPr sz="1800">
                <a:solidFill>
                  <a:srgbClr val="94A3B8"/>
                </a:solidFill>
                <a:latin typeface="Calibri"/>
              </a:defRPr>
            </a:pPr>
            <a:r>
              <a:t>Mastering the Linux Command Line for Cybersecurity &amp; Competitions (NCL / NCAE Cyber Games)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4754880"/>
            <a:ext cx="10362895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892040"/>
            <a:ext cx="99971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Georgia"/>
              </a:defRPr>
            </a:pPr>
            <a:r>
              <a:t>Core Learning Modules Covered: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21208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  <a:latin typeface="Calibri"/>
              </a:defRPr>
            </a:pPr>
            <a:r>
              <a:t>• Section 1-4: Linux Operating Systems, CLI vs GUI, Terminal Syntax &amp; Filesystem Hierarchy</a:t>
            </a:r>
            <a:br/>
            <a:r>
              <a:t>• Section 5-8: File Management, Searching (grep/pipes), User Accounts (/etc/passwd) &amp; Sudo Elevation</a:t>
            </a:r>
            <a:br/>
            <a:r>
              <a:t>• Section 9-12: Octal/Symbolic Permissions (chmod/chown), System Investigation &amp; Competition Workflows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MODULE 1: FOUNDATIONS | TOPIC 1: LINUX CLI ESSENTIALS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Georgia"/>
              </a:defRPr>
            </a:pPr>
            <a:r>
              <a:t>Linux Fundamentals &amp; Why CLI Mastery Matters in Cyber Competitions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Georgia"/>
              </a:defRPr>
            </a:pPr>
            <a:r>
              <a:t>What Is Linux &amp; Why It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  <a:latin typeface="Calibri"/>
              </a:defRPr>
            </a:pPr>
            <a:r>
              <a:t>• Open-Source Kernel: Foundation for distributions like Ubuntu, Debian, Kali Linux, Fedora, and RHEL.</a:t>
            </a:r>
            <a:br/>
            <a:br/>
            <a:r>
              <a:t>• Core Role in Security:</a:t>
            </a:r>
            <a:br/>
            <a:r>
              <a:t>  - Most server infrastructures run Linux distributions.</a:t>
            </a:r>
            <a:br/>
            <a:r>
              <a:t>  - Primary platform for security tools (Nmap, Wireshark, Metasploit).</a:t>
            </a:r>
            <a:br/>
            <a:r>
              <a:t>  - Competition target systems in NCL &amp; NCAE Cyber Games are Linux-based.</a:t>
            </a:r>
            <a:br/>
            <a:br/>
            <a:r>
              <a:t>• Competition Mindset:</a:t>
            </a:r>
            <a:br/>
            <a:r>
              <a:t>  - Terminal access is faster, scriptable, and transparent.</a:t>
            </a:r>
            <a:br/>
            <a:r>
              <a:t>  - Operating without a GUI is a mandatory baseline skill.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Georgia"/>
              </a:defRPr>
            </a:pPr>
            <a:r>
              <a:t>GUI vs. CLI Functional Comparison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0" y="2194560"/>
          <a:ext cx="484632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737360"/>
                <a:gridCol w="1737360"/>
              </a:tblGrid>
              <a:tr h="56170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GUI (Graphical)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CLI (Command Line)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Interaction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Visual (Icons/Buttons)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Text-Based Commands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Learning Curve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Easy for Beginners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Requires Command Knowledge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Task Speed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Slower for Repetition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Fast, Repeatable &amp; Batch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Automation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Limited / Manual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Easily Scriptable (Bash)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System Detail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Can Hide System State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Provides Explicit Control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617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Remote Access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Requires Heavy Bandwidth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Lightweight via SSH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MODULE 1: FOUNDATIONS | TOPIC 1: LINUX CLI ESSENTIALS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Georgia"/>
              </a:defRPr>
            </a:pPr>
            <a:r>
              <a:t>Understanding Terminal Structure, Prompt Anatomy &amp; Location Verification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Georgia"/>
              </a:defRPr>
            </a:pPr>
            <a:r>
              <a:t>Terminal Command Structure &amp; Prompt Anatomy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  <a:latin typeface="Calibri"/>
              </a:defRPr>
            </a:pPr>
            <a:r>
              <a:t>• Universal Command Structure:</a:t>
            </a:r>
            <a:br/>
            <a:r>
              <a:t>  command [options] [arguments]</a:t>
            </a:r>
            <a:br/>
            <a:r>
              <a:t>  Example: ls -la /home</a:t>
            </a:r>
            <a:br/>
            <a:r>
              <a:t>  - command: 'ls' (list)</a:t>
            </a:r>
            <a:br/>
            <a:r>
              <a:t>  - options: '-la' (long all)</a:t>
            </a:r>
            <a:br/>
            <a:r>
              <a:t>  - argument: '/home' (target path)</a:t>
            </a:r>
            <a:br/>
            <a:br/>
            <a:r>
              <a:t>• Command Prompt Anatomy:</a:t>
            </a:r>
            <a:br/>
            <a:r>
              <a:t>  student@linuxlab:~/cyber-lab$</a:t>
            </a:r>
            <a:br/>
            <a:r>
              <a:t>  - student: Current username</a:t>
            </a:r>
            <a:br/>
            <a:r>
              <a:t>  - linuxlab: Hostname</a:t>
            </a:r>
            <a:br/>
            <a:r>
              <a:t>  - ~/cyber-lab: Current working directory</a:t>
            </a:r>
            <a:br/>
            <a:r>
              <a:t>  - $: Normal user prompt</a:t>
            </a:r>
            <a:br/>
            <a:r>
              <a:t>  - #: Root / Superuser 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754880"/>
          </a:xfrm>
          <a:prstGeom prst="roundRect">
            <a:avLst/>
          </a:prstGeom>
          <a:solidFill>
            <a:srgbClr val="02061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Calibri"/>
              </a:defRPr>
            </a:pPr>
            <a:r>
              <a:t>💻 Terminal Syntax &amp; Location Verification (pwd)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ADE80"/>
                </a:solidFill>
                <a:latin typeface="Consolas"/>
              </a:defRPr>
            </a:pPr>
            <a:r>
              <a:t># 1. Verify current location</a:t>
            </a:r>
            <a:br/>
            <a:r>
              <a:t>student@linuxlab:~$ pwd</a:t>
            </a:r>
            <a:br/>
            <a:r>
              <a:t>/home/student</a:t>
            </a:r>
            <a:br/>
            <a:br/>
            <a:r>
              <a:t># 2. Make nested lab directory</a:t>
            </a:r>
            <a:br/>
            <a:r>
              <a:t>student@linuxlab:~$ mkdir -p labs/linux/week1</a:t>
            </a:r>
            <a:br/>
            <a:br/>
            <a:r>
              <a:t># 3. Verify directory creation</a:t>
            </a:r>
            <a:br/>
            <a:r>
              <a:t>student@linuxlab:~$ cd labs/linux/week1</a:t>
            </a:r>
            <a:br/>
            <a:r>
              <a:t>student@linuxlab:~/labs/linux/week1$ pwd</a:t>
            </a:r>
            <a:br/>
            <a:r>
              <a:t>/home/student/labs/linux/week1</a:t>
            </a:r>
            <a:br/>
            <a:br/>
            <a:r>
              <a:t># COMPETITION HABIT:</a:t>
            </a:r>
            <a:br/>
            <a:r>
              <a:t># Always verify location (pwd) and directory contents (ls -la)</a:t>
            </a:r>
            <a:br/>
            <a:r>
              <a:t># BEFORE executing destructive or administrative commands!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MODULE 1: FOUNDATIONS | TOPIC 1: LINUX CLI ESSENTIALS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Georgia"/>
              </a:defRPr>
            </a:pPr>
            <a:r>
              <a:t>Linux Filesystem Hierarchy &amp; Pathing Mechanics (Absolute vs. Relative)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Georgia"/>
              </a:defRPr>
            </a:pPr>
            <a:r>
              <a:t>Core Directory Hierarchy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2194560"/>
          <a:ext cx="47548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383280"/>
              </a:tblGrid>
              <a:tr h="447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Directory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Cybersecurity &amp; System Purpose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/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Root of the entire filesystem hierarchy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/home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Regular user home directories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/root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Home directory for the root superuser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/etc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System &amp; service configuration files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/var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Variable data, logs (/var/log), and web roots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/tmp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Temporary files (volatile, often world-writable)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/bin, /sbin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Essential user &amp; admin system binaries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/usr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User programs, libraries, and documentation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217920" y="164592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Georgia"/>
              </a:defRPr>
            </a:pPr>
            <a:r>
              <a:t>Absolute vs. Relative Paths &amp; Symbols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  <a:latin typeface="Calibri"/>
              </a:defRPr>
            </a:pPr>
            <a:r>
              <a:t>• Absolute Path:</a:t>
            </a:r>
            <a:br/>
            <a:r>
              <a:t>  - Starts from the root directory (/).</a:t>
            </a:r>
            <a:br/>
            <a:r>
              <a:t>  - Example: /home/student/labs/notes.txt</a:t>
            </a:r>
            <a:br/>
            <a:r>
              <a:t>  - Unambiguous across any directory location.</a:t>
            </a:r>
            <a:br/>
            <a:br/>
            <a:r>
              <a:t>• Relative Path:</a:t>
            </a:r>
            <a:br/>
            <a:r>
              <a:t>  - Starts from current working directory.</a:t>
            </a:r>
            <a:br/>
            <a:r>
              <a:t>  - Example: labs/notes.txt or ./notes.txt</a:t>
            </a:r>
            <a:br/>
            <a:br/>
            <a:r>
              <a:t>• Essential Path Symbols:</a:t>
            </a:r>
            <a:br/>
            <a:r>
              <a:t>  .   -&gt; Current working directory</a:t>
            </a:r>
            <a:br/>
            <a:r>
              <a:t>  ..  -&gt; Parent directory</a:t>
            </a:r>
            <a:br/>
            <a:r>
              <a:t>  ~   -&gt; Current user's home directory (/home/username)</a:t>
            </a:r>
            <a:br/>
            <a:r>
              <a:t>  /   -&gt; Filesystem root</a:t>
            </a:r>
            <a:br/>
            <a:br/>
            <a:r>
              <a:t>• Practical Navigation Example:</a:t>
            </a:r>
            <a:br/>
            <a:r>
              <a:t>  cd ..   # Move up one level</a:t>
            </a:r>
            <a:br/>
            <a:r>
              <a:t>  cd ~    # Return to home directory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MODULE 1: FOUNDATIONS | TOPIC 1: LINUX CLI ESSENTIALS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Georgia"/>
              </a:defRPr>
            </a:pPr>
            <a:r>
              <a:t>Directory Navigation &amp; Inspection: ls Options &amp; cd Usage Scenarios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Georgia"/>
              </a:defRPr>
            </a:pPr>
            <a:r>
              <a:t>ls Utility Options &amp; Hidden Asset Discovery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  <a:latin typeface="Calibri"/>
              </a:defRPr>
            </a:pPr>
            <a:r>
              <a:t>• Core ls Flags:</a:t>
            </a:r>
            <a:br/>
            <a:r>
              <a:t>  - ls       : Basic file listing</a:t>
            </a:r>
            <a:br/>
            <a:r>
              <a:t>  - ls -l    : Long format (permissions, owner, size, date)</a:t>
            </a:r>
            <a:br/>
            <a:r>
              <a:t>  - ls -a    : Show ALL files including hidden (dotfiles)</a:t>
            </a:r>
            <a:br/>
            <a:r>
              <a:t>  - ls -la   : Combined detailed long listing with hidden files</a:t>
            </a:r>
            <a:br/>
            <a:br/>
            <a:r>
              <a:t>• Cybersecurity Relevance of Hidden Files (.dotfiles):</a:t>
            </a:r>
            <a:br/>
            <a:r>
              <a:t>  - Hidden configuration files (.bashrc, .ssh/id_rsa)</a:t>
            </a:r>
            <a:br/>
            <a:r>
              <a:t>  - Credentials, API keys, and persistence mechanisms</a:t>
            </a:r>
            <a:br/>
            <a:r>
              <a:t>  - Competition CTF flags (e.g., .flag.txt)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754880"/>
          </a:xfrm>
          <a:prstGeom prst="roundRect">
            <a:avLst/>
          </a:prstGeom>
          <a:solidFill>
            <a:srgbClr val="02061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Calibri"/>
              </a:defRPr>
            </a:pPr>
            <a:r>
              <a:t>💻 Navigation Scenarios &amp; Command Examples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ADE80"/>
                </a:solidFill>
                <a:latin typeface="Consolas"/>
              </a:defRPr>
            </a:pPr>
            <a:r>
              <a:t># Inspect configuration directory</a:t>
            </a:r>
            <a:br/>
            <a:r>
              <a:t>student@linuxlab:~$ cd /etc</a:t>
            </a:r>
            <a:br/>
            <a:r>
              <a:t>student@linuxlab:/etc$ ls -la passwd hosts</a:t>
            </a:r>
            <a:br/>
            <a:br/>
            <a:r>
              <a:t># Move to web logs</a:t>
            </a:r>
            <a:br/>
            <a:r>
              <a:t>student@linuxlab:/etc$ cd /var/log/nginx</a:t>
            </a:r>
            <a:br/>
            <a:br/>
            <a:r>
              <a:t># Move to parent directory</a:t>
            </a:r>
            <a:br/>
            <a:r>
              <a:t>student@linuxlab:/var/log/nginx$ cd ..</a:t>
            </a:r>
            <a:br/>
            <a:br/>
            <a:r>
              <a:t># Return directly to user home</a:t>
            </a:r>
            <a:br/>
            <a:r>
              <a:t>student@linuxlab:/var/log$ cd ~</a:t>
            </a:r>
            <a:br/>
            <a:br/>
            <a:r>
              <a:t># Switch back to previous working directory</a:t>
            </a:r>
            <a:br/>
            <a:r>
              <a:t>student@linuxlab:~$ cd -</a:t>
            </a:r>
            <a:br/>
            <a:r>
              <a:t>/var/log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MODULE 1: FOUNDATIONS | TOPIC 1: LINUX CLI ESSENTIALS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Georgia"/>
              </a:defRPr>
            </a:pPr>
            <a:r>
              <a:t>File &amp; Directory Manipulation: Creation, Copying, Moving, and Safe Removal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Georgia"/>
              </a:defRPr>
            </a:pPr>
            <a:r>
              <a:t>File Management Utilities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  <a:latin typeface="Calibri"/>
              </a:defRPr>
            </a:pPr>
            <a:r>
              <a:t>• mkdir (Make Directory):</a:t>
            </a:r>
            <a:br/>
            <a:r>
              <a:t>  - mkdir -p competition/web/challenge1</a:t>
            </a:r>
            <a:br/>
            <a:r>
              <a:t>  - Creates parent directories automatically.</a:t>
            </a:r>
            <a:br/>
            <a:br/>
            <a:r>
              <a:t>• cp (Copy Files &amp; Directories):</a:t>
            </a:r>
            <a:br/>
            <a:r>
              <a:t>  - Preserve evidence before modifying!</a:t>
            </a:r>
            <a:br/>
            <a:r>
              <a:t>  - cp config.txt config.txt.backup</a:t>
            </a:r>
            <a:br/>
            <a:r>
              <a:t>  - cp -r challenge1/ backup/</a:t>
            </a:r>
            <a:br/>
            <a:br/>
            <a:r>
              <a:t>• mv (Move or Rename):</a:t>
            </a:r>
            <a:br/>
            <a:r>
              <a:t>  - Rename: mv oldname.txt newname.txt</a:t>
            </a:r>
            <a:br/>
            <a:r>
              <a:t>  - Move: mv report.txt reports/</a:t>
            </a:r>
            <a:br/>
            <a:br/>
            <a:r>
              <a:t>• rm (Remove Files &amp; Directories):</a:t>
            </a:r>
            <a:br/>
            <a:r>
              <a:t>  - rm file.txt | rm -r dir/ | rm -rf dir/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754880"/>
          </a:xfrm>
          <a:prstGeom prst="roundRect">
            <a:avLst/>
          </a:prstGeom>
          <a:solidFill>
            <a:srgbClr val="02061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Calibri"/>
              </a:defRPr>
            </a:pPr>
            <a:r>
              <a:t>💻 Evidence Preservation &amp; Removal Caution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7171"/>
                </a:solidFill>
                <a:latin typeface="Consolas"/>
              </a:defRPr>
            </a:pPr>
            <a:r>
              <a:t># Golden Rule: Preserve Evidence Before Modification</a:t>
            </a:r>
            <a:br/>
            <a:r>
              <a:t>student@linuxlab:~$ cp /etc/ssh/sshd_config sshd_config.bak</a:t>
            </a:r>
            <a:br/>
            <a:br/>
            <a:r>
              <a:t># Safe Removal Verification Protocol:</a:t>
            </a:r>
            <a:br/>
            <a:r>
              <a:t>student@linuxlab:~$ pwd</a:t>
            </a:r>
            <a:br/>
            <a:r>
              <a:t>/home/student/competition</a:t>
            </a:r>
            <a:br/>
            <a:br/>
            <a:r>
              <a:t>student@linuxlab:~$ ls -la target_dir/</a:t>
            </a:r>
            <a:br/>
            <a:r>
              <a:t># Verify files before removing!</a:t>
            </a:r>
            <a:br/>
            <a:br/>
            <a:r>
              <a:t>student@linuxlab:~$ rm -r target_dir/</a:t>
            </a:r>
            <a:br/>
            <a:br/>
            <a:r>
              <a:t># ⚠️ WARNING: 'rm -rf' executes silently!</a:t>
            </a:r>
            <a:br/>
            <a:r>
              <a:t># Never run 'rm -rf' without double-checking pwd and target!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MODULE 1: FOUNDATIONS | TOPIC 1: LINUX CLI ESSENTIALS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Georgia"/>
              </a:defRPr>
            </a:pPr>
            <a:r>
              <a:t>Text Inspection &amp; Pattern Matching: Using cat, grep, and Pipelines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Georgia"/>
              </a:defRPr>
            </a:pPr>
            <a:r>
              <a:t>cat, grep &amp; Pipeline Mechanics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  <a:latin typeface="Calibri"/>
              </a:defRPr>
            </a:pPr>
            <a:r>
              <a:t>• cat (Concatenate &amp; Print):</a:t>
            </a:r>
            <a:br/>
            <a:r>
              <a:t>  - Displays full file contents to stdout.</a:t>
            </a:r>
            <a:br/>
            <a:r>
              <a:t>  - Used to inspect /etc/passwd, /etc/hosts, configs.</a:t>
            </a:r>
            <a:br/>
            <a:br/>
            <a:r>
              <a:t>• grep (Global Regular Expression Print):</a:t>
            </a:r>
            <a:br/>
            <a:r>
              <a:t>  - Searches text streams or files for pattern matches.</a:t>
            </a:r>
            <a:br/>
            <a:r>
              <a:t>  - Syntax: grep [options] "pattern" filename</a:t>
            </a:r>
            <a:br/>
            <a:br/>
            <a:r>
              <a:t>• Pipelines (|):</a:t>
            </a:r>
            <a:br/>
            <a:r>
              <a:t>  - Passes stdout of Command 1 directly as stdin to Command 2.</a:t>
            </a:r>
            <a:br/>
            <a:r>
              <a:t>  - Concept: Command 1 -&gt; Pipe | -&gt; Command 2</a:t>
            </a:r>
            <a:br/>
            <a:br/>
            <a:r>
              <a:t>• Best Practice:</a:t>
            </a:r>
            <a:br/>
            <a:r>
              <a:t>  - Use direct grep ('grep pattern file') over 'cat file | grep pattern' when possible.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754880"/>
          </a:xfrm>
          <a:prstGeom prst="roundRect">
            <a:avLst/>
          </a:prstGeom>
          <a:solidFill>
            <a:srgbClr val="02061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Calibri"/>
              </a:defRPr>
            </a:pPr>
            <a:r>
              <a:t>💻 Log Searching &amp; Pattern Matching Snippets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ADE80"/>
                </a:solidFill>
                <a:latin typeface="Consolas"/>
              </a:defRPr>
            </a:pPr>
            <a:r>
              <a:t># Search for root user in passwd</a:t>
            </a:r>
            <a:br/>
            <a:r>
              <a:t>student@linuxlab:~$ grep "root" /etc/passwd</a:t>
            </a:r>
            <a:br/>
            <a:br/>
            <a:r>
              <a:t># Find users with interactive Bash shells</a:t>
            </a:r>
            <a:br/>
            <a:r>
              <a:t>student@linuxlab:~$ grep "/bin/bash" /etc/passwd</a:t>
            </a:r>
            <a:br/>
            <a:br/>
            <a:r>
              <a:t># Audit failed SSH authentication attempts in auth log</a:t>
            </a:r>
            <a:br/>
            <a:r>
              <a:t>student@linuxlab:~$ grep "Failed password" /var/log/auth.log</a:t>
            </a:r>
            <a:br/>
            <a:br/>
            <a:r>
              <a:t># Search recursively for flags across directories</a:t>
            </a:r>
            <a:br/>
            <a:r>
              <a:t>student@linuxlab:~$ grep -rnw '/var/www/' -e 'FLAG{'</a:t>
            </a:r>
            <a:br/>
            <a:r>
              <a:t>/var/www/html/config.php:12: FLAG{WEB_ENUM_SUCCESS_2026}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MODULE 1: FOUNDATIONS | TOPIC 1: LINUX CLI ESSENTIALS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Georgia"/>
              </a:defRPr>
            </a:pPr>
            <a:r>
              <a:t>Linux User Model, Account Storage (/etc/passwd) &amp; UID Auditing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Georgia"/>
              </a:defRPr>
            </a:pPr>
            <a:r>
              <a:t>Multi-User Architecture &amp; /etc/passwd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  <a:latin typeface="Calibri"/>
              </a:defRPr>
            </a:pPr>
            <a:r>
              <a:t>• Account Types:</a:t>
            </a:r>
            <a:br/>
            <a:r>
              <a:t>  - Regular Users (UID &gt;= 1000)</a:t>
            </a:r>
            <a:br/>
            <a:r>
              <a:t>  - System/Service Accounts (e.g., www-data, sshd)</a:t>
            </a:r>
            <a:br/>
            <a:r>
              <a:t>  - Superuser / Root (UID = 0)</a:t>
            </a:r>
            <a:br/>
            <a:br/>
            <a:r>
              <a:t>• /etc/passwd Field Breakdown:</a:t>
            </a:r>
            <a:br/>
            <a:r>
              <a:t>  username:password:UID:GID:GECOS:home:shell</a:t>
            </a:r>
            <a:br/>
            <a:r>
              <a:t>  Example:</a:t>
            </a:r>
            <a:br/>
            <a:r>
              <a:t>  student:x:1000:1000:Student User:/home/student:/bin/bash</a:t>
            </a:r>
            <a:br/>
            <a:r>
              <a:t>  - x: Password stored securely in /etc/shadow</a:t>
            </a:r>
            <a:br/>
            <a:r>
              <a:t>  - UID 1000: User ID | GID 1000: Primary Group ID</a:t>
            </a:r>
            <a:br/>
            <a:r>
              <a:t>  - /home/student: Home Directory | /bin/bash: Default Shell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754880"/>
          </a:xfrm>
          <a:prstGeom prst="roundRect">
            <a:avLst/>
          </a:prstGeom>
          <a:solidFill>
            <a:srgbClr val="02061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Calibri"/>
              </a:defRPr>
            </a:pPr>
            <a:r>
              <a:t>💻 User Auditing Commands &amp; 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ADE80"/>
                </a:solidFill>
                <a:latin typeface="Consolas"/>
              </a:defRPr>
            </a:pPr>
            <a:r>
              <a:t># Check current user identity</a:t>
            </a:r>
            <a:br/>
            <a:r>
              <a:t>student@linuxlab:~$ whoami</a:t>
            </a:r>
            <a:br/>
            <a:r>
              <a:t>student</a:t>
            </a:r>
            <a:br/>
            <a:br/>
            <a:r>
              <a:t># Query detailed UID, GID, and group memberships</a:t>
            </a:r>
            <a:br/>
            <a:r>
              <a:t>student@linuxlab:~$ id student</a:t>
            </a:r>
            <a:br/>
            <a:r>
              <a:t>uid=1000(student) gid=1000(student) groups=1000(student),27(sudo)</a:t>
            </a:r>
            <a:br/>
            <a:br/>
            <a:r>
              <a:t># Audit accounts with interactive shell access</a:t>
            </a:r>
            <a:br/>
            <a:r>
              <a:t>student@linuxlab:~$ grep -E '/bin/bash|/bin/sh' /etc/passwd</a:t>
            </a:r>
            <a:br/>
            <a:r>
              <a:t>root:x:0:0:root:/root:/bin/bash</a:t>
            </a:r>
            <a:br/>
            <a:r>
              <a:t>student:x:1000:1000:Student:/home/student:/bin/bash</a:t>
            </a:r>
            <a:br/>
            <a:r>
              <a:t>legacy_admin:x:1001:1001::/home/legacy_admin:/bin/bash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MODULE 1: FOUNDATIONS | TOPIC 1: LINUX CLI ESSENTIALS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Georgia"/>
              </a:defRPr>
            </a:pPr>
            <a:r>
              <a:t>Root Superuser Powers, Prompt Indicators &amp; sudo Elevation Mechanics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Georgia"/>
              </a:defRPr>
            </a:pPr>
            <a:r>
              <a:t>Root Privileges &amp; Security Principles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  <a:latin typeface="Calibri"/>
              </a:defRPr>
            </a:pPr>
            <a:r>
              <a:t>• Root Superuser Capabilities:</a:t>
            </a:r>
            <a:br/>
            <a:r>
              <a:t>  - Unrestricted system access (reads protected files, modifies /etc).</a:t>
            </a:r>
            <a:br/>
            <a:r>
              <a:t>  - Creates/deletes users, stops services, modifies networking.</a:t>
            </a:r>
            <a:br/>
            <a:br/>
            <a:r>
              <a:t>• Prompt Distinction:</a:t>
            </a:r>
            <a:br/>
            <a:r>
              <a:t>  - Normal User Prompt: student@machine:~$</a:t>
            </a:r>
            <a:br/>
            <a:r>
              <a:t>  - Root Superuser Prompt: root@machine:/#</a:t>
            </a:r>
            <a:br/>
            <a:br/>
            <a:r>
              <a:t>• Core Security Rule:</a:t>
            </a:r>
            <a:br/>
            <a:r>
              <a:t>  - Do not stay permanently logged in as root.</a:t>
            </a:r>
            <a:br/>
            <a:r>
              <a:t>  - Use elevated privileges only when specifically required.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754880"/>
          </a:xfrm>
          <a:prstGeom prst="roundRect">
            <a:avLst/>
          </a:prstGeom>
          <a:solidFill>
            <a:srgbClr val="02061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Calibri"/>
              </a:defRPr>
            </a:pPr>
            <a:r>
              <a:t>💻 sudo Command Execution &amp; Verification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ADE80"/>
                </a:solidFill>
                <a:latin typeface="Consolas"/>
              </a:defRPr>
            </a:pPr>
            <a:r>
              <a:t># Read restricted shadow password file via sudo</a:t>
            </a:r>
            <a:br/>
            <a:r>
              <a:t>student@linuxlab:~$ sudo cat /etc/shadow</a:t>
            </a:r>
            <a:br/>
            <a:r>
              <a:t>[sudo] password for student: </a:t>
            </a:r>
            <a:br/>
            <a:r>
              <a:t>root:$6$xyz...:19600:0:99999:7:::</a:t>
            </a:r>
            <a:br/>
            <a:br/>
            <a:r>
              <a:t># Restart SSH service</a:t>
            </a:r>
            <a:br/>
            <a:r>
              <a:t>student@linuxlab:~$ sudo systemctl restart ssh</a:t>
            </a:r>
            <a:br/>
            <a:br/>
            <a:r>
              <a:t># Check allowed sudo privileges</a:t>
            </a:r>
            <a:br/>
            <a:r>
              <a:t>student@linuxlab:~$ sudo -l</a:t>
            </a:r>
            <a:br/>
            <a:r>
              <a:t>User student may run the following commands on linuxlab:</a:t>
            </a:r>
            <a:br/>
            <a:r>
              <a:t>    (ALL : ALL) ALL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MODULE 1: FOUNDATIONS | TOPIC 1: LINUX CLI ESSENTIALS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Georgia"/>
              </a:defRPr>
            </a:pPr>
            <a:r>
              <a:t>Linux Permission Architecture: UGO Triad, Octal Calculations &amp; chmod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Georgia"/>
              </a:defRPr>
            </a:pPr>
            <a:r>
              <a:t>Permission Triad &amp; Octal Math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  <a:latin typeface="Calibri"/>
              </a:defRPr>
            </a:pPr>
            <a:r>
              <a:t>• UGO Permission Triad:</a:t>
            </a:r>
            <a:br/>
            <a:r>
              <a:t>  - Owner (u) | Group (g) | Others (o)</a:t>
            </a:r>
            <a:br/>
            <a:r>
              <a:t>  - String Format: -rwxr-xr--</a:t>
            </a:r>
            <a:br/>
            <a:br/>
            <a:r>
              <a:t>• Permission Bit Values:</a:t>
            </a:r>
            <a:br/>
            <a:r>
              <a:t>  - Read (r)    = 4</a:t>
            </a:r>
            <a:br/>
            <a:r>
              <a:t>  - Write (w)   = 2</a:t>
            </a:r>
            <a:br/>
            <a:r>
              <a:t>  - Execute (x) = 1</a:t>
            </a:r>
            <a:br/>
            <a:br/>
            <a:r>
              <a:t>• Common Octal Permission Combinations:</a:t>
            </a:r>
            <a:br/>
            <a:r>
              <a:t>  - 755 (rwxr-xr-x) : Executable script / Directory default</a:t>
            </a:r>
            <a:br/>
            <a:r>
              <a:t>  - 644 (rw-r--r--) : Standard readable configuration file</a:t>
            </a:r>
            <a:br/>
            <a:r>
              <a:t>  - 600 (rw-------) : Sensitive private file (SSH key / passwords)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754880"/>
          </a:xfrm>
          <a:prstGeom prst="roundRect">
            <a:avLst/>
          </a:prstGeom>
          <a:solidFill>
            <a:srgbClr val="02061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Calibri"/>
              </a:defRPr>
            </a:pPr>
            <a:r>
              <a:t>💻 chmod Modification Examples &amp; Verification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ADE80"/>
                </a:solidFill>
                <a:latin typeface="Consolas"/>
              </a:defRPr>
            </a:pPr>
            <a:r>
              <a:t># Check initial file permissions</a:t>
            </a:r>
            <a:br/>
            <a:r>
              <a:t>student@linuxlab:~$ ls -l report.txt</a:t>
            </a:r>
            <a:br/>
            <a:r>
              <a:t>-rw-r--r-- 1 student student 1250 Sep 20 report.txt</a:t>
            </a:r>
            <a:br/>
            <a:br/>
            <a:r>
              <a:t># Restrict sensitive file access to owner only (600)</a:t>
            </a:r>
            <a:br/>
            <a:r>
              <a:t>student@linuxlab:~$ chmod 600 report.txt</a:t>
            </a:r>
            <a:br/>
            <a:r>
              <a:t>student@linuxlab:~$ ls -l report.txt</a:t>
            </a:r>
            <a:br/>
            <a:r>
              <a:t>-rw------- 1 student student 1250 Sep 20 report.txt</a:t>
            </a:r>
            <a:br/>
            <a:br/>
            <a:r>
              <a:t># Make script executable for owner and group (755)</a:t>
            </a:r>
            <a:br/>
            <a:r>
              <a:t>student@linuxlab:~$ chmod 755 run_lab.sh</a:t>
            </a:r>
            <a:br/>
            <a:r>
              <a:t>student@linuxlab:~$ ls -l run_lab.sh</a:t>
            </a:r>
            <a:br/>
            <a:r>
              <a:t>-rwxr-xr-x 1 student student 450 Sep 20 run_lab.sh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MODULE 1: FOUNDATIONS | TOPIC 1: LINUX CLI ESSENTIALS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Georgia"/>
              </a:defRPr>
            </a:pPr>
            <a:r>
              <a:t>File &amp; Directory Ownership Management using chown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Georgia"/>
              </a:defRPr>
            </a:pPr>
            <a:r>
              <a:t>chown Utility &amp; Investigation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  <a:latin typeface="Calibri"/>
              </a:defRPr>
            </a:pPr>
            <a:r>
              <a:t>• Syntax:</a:t>
            </a:r>
            <a:br/>
            <a:r>
              <a:t>  sudo chown user:group filename</a:t>
            </a:r>
            <a:br/>
            <a:br/>
            <a:r>
              <a:t>• Core Capabilities:</a:t>
            </a:r>
            <a:br/>
            <a:r>
              <a:t>  - Change owner only : sudo chown student notes.txt</a:t>
            </a:r>
            <a:br/>
            <a:r>
              <a:t>  - Change group only : sudo chown :auditors notes.txt</a:t>
            </a:r>
            <a:br/>
            <a:r>
              <a:t>  - Change user &amp; group : sudo chown student:auditors notes.txt</a:t>
            </a:r>
            <a:br/>
            <a:r>
              <a:t>  - Recursive change  : sudo chown -R www-data:www-data /var/www/</a:t>
            </a:r>
            <a:br/>
            <a:br/>
            <a:r>
              <a:t>• Investigation Questions:</a:t>
            </a:r>
            <a:br/>
            <a:r>
              <a:t>  - Who owns suspicious files in /tmp or /var/www?</a:t>
            </a:r>
            <a:br/>
            <a:r>
              <a:t>  - Does a sensitive configuration file belong to the wrong user?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754880"/>
          </a:xfrm>
          <a:prstGeom prst="roundRect">
            <a:avLst/>
          </a:prstGeom>
          <a:solidFill>
            <a:srgbClr val="02061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Calibri"/>
              </a:defRPr>
            </a:pPr>
            <a:r>
              <a:t>💻 Ownership Remediation Script Walkthrough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ADE80"/>
                </a:solidFill>
                <a:latin typeface="Consolas"/>
              </a:defRPr>
            </a:pPr>
            <a:r>
              <a:t># Step 1: Inspect notes file ownership</a:t>
            </a:r>
            <a:br/>
            <a:r>
              <a:t>student@linuxlab:~$ ls -l /home/student_auditor/notes.txt</a:t>
            </a:r>
            <a:br/>
            <a:r>
              <a:t>-rw-r--r-- 1 root root 35 Sep 20 notes.txt</a:t>
            </a:r>
            <a:br/>
            <a:br/>
            <a:r>
              <a:t># Step 2: Change group ownership to student_auditor</a:t>
            </a:r>
            <a:br/>
            <a:r>
              <a:t>student@linuxlab:~$ sudo chown root:student_auditor /home/student_auditor/notes.txt</a:t>
            </a:r>
            <a:br/>
            <a:br/>
            <a:r>
              <a:t># Step 3: Grant group write access (664)</a:t>
            </a:r>
            <a:br/>
            <a:r>
              <a:t>student@linuxlab:~$ sudo chmod 664 /home/student_auditor/notes.txt</a:t>
            </a:r>
            <a:br/>
            <a:br/>
            <a:r>
              <a:t># Step 4: Verify updated permissions and ownership</a:t>
            </a:r>
            <a:br/>
            <a:r>
              <a:t>student@linuxlab:~$ ls -l /home/student_auditor/notes.txt</a:t>
            </a:r>
            <a:br/>
            <a:r>
              <a:t>-rw-rw-r-- 1 root student_auditor 35 Sep 20 notes.txt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MODULE 1: FOUNDATIONS | TOPIC 1: LINUX CLI ESSENTIALS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Georgia"/>
              </a:defRPr>
            </a:pPr>
            <a:r>
              <a:t>System Enumeration Workflow &amp; Hands-On Investigation Scenario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Georgia"/>
              </a:defRPr>
            </a:pPr>
            <a:r>
              <a:t>6-Step Enumeration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  <a:latin typeface="Calibri"/>
              </a:defRPr>
            </a:pPr>
            <a:r>
              <a:t>1. Step 1: Identify Yourself -&gt; whoami &amp; id</a:t>
            </a:r>
            <a:br/>
            <a:r>
              <a:t>2. Step 2: Identify Location -&gt; pwd</a:t>
            </a:r>
            <a:br/>
            <a:r>
              <a:t>3. Step 3: Inspect Directory -&gt; ls -la</a:t>
            </a:r>
            <a:br/>
            <a:r>
              <a:t>4. Step 4: System Information -&gt; uname -a</a:t>
            </a:r>
            <a:br/>
            <a:r>
              <a:t>5. Step 5: Inspect Accounts -&gt; cat /etc/passwd</a:t>
            </a:r>
            <a:br/>
            <a:r>
              <a:t>6. Step 6: Inspect Key Configs -&gt; ls -la /etc /var/log</a:t>
            </a:r>
            <a:br/>
            <a:br/>
            <a:r>
              <a:t>Investigation Principle:</a:t>
            </a:r>
            <a:br/>
            <a:r>
              <a:t>Observe -&gt; Investigate -&gt; Document -&gt; 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754880"/>
          </a:xfrm>
          <a:prstGeom prst="roundRect">
            <a:avLst/>
          </a:prstGeom>
          <a:solidFill>
            <a:srgbClr val="02061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Calibri"/>
              </a:defRPr>
            </a:pPr>
            <a:r>
              <a:t>💻 Investigation Scenario Command Execution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ADE80"/>
                </a:solidFill>
                <a:latin typeface="Consolas"/>
              </a:defRPr>
            </a:pPr>
            <a:r>
              <a:t># Scenario: Identify unauthorized users on VM</a:t>
            </a:r>
            <a:br/>
            <a:r>
              <a:t>student@linuxlab:~$ whoami</a:t>
            </a:r>
            <a:br/>
            <a:r>
              <a:t>student</a:t>
            </a:r>
            <a:br/>
            <a:br/>
            <a:r>
              <a:t>student@linuxlab:~$ cat /etc/passwd | grep "/bin/bash"</a:t>
            </a:r>
            <a:br/>
            <a:r>
              <a:t>root:x:0:0:root:/root:/bin/bash</a:t>
            </a:r>
            <a:br/>
            <a:r>
              <a:t>student:x:1000:1000:Student:/home/student:/bin/bash</a:t>
            </a:r>
            <a:br/>
            <a:r>
              <a:t>legacy_admin:x:1001:1001::/home/legacy_admin:/bin/bash</a:t>
            </a:r>
            <a:br/>
            <a:br/>
            <a:r>
              <a:t>student@linuxlab:~$ id legacy_admin</a:t>
            </a:r>
            <a:br/>
            <a:r>
              <a:t>uid=1001(legacy_admin) gid=1001(legacy_admin) groups=1001(legacy_admin)</a:t>
            </a:r>
            <a:br/>
            <a:br/>
            <a:r>
              <a:t># Remove unauthorized user and home directory</a:t>
            </a:r>
            <a:br/>
            <a:r>
              <a:t>student@linuxlab:~$ sudo userdel -r legacy_admin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MODULE 1: FOUNDATIONS | TOPIC 1: LINUX CLI ESSENTIALS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Georgia"/>
              </a:defRPr>
            </a:pPr>
            <a:r>
              <a:t>Core Security Concepts (Least Privilege, Auth/Authz) &amp; Common CLI Pitfalls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Georgia"/>
              </a:defRPr>
            </a:pPr>
            <a:r>
              <a:t>Core Security Concepts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  <a:latin typeface="Calibri"/>
              </a:defRPr>
            </a:pPr>
            <a:r>
              <a:t>• Principle of Least Privilege:</a:t>
            </a:r>
            <a:br/>
            <a:r>
              <a:t>  - Grant users/processes only minimum required rights.</a:t>
            </a:r>
            <a:br/>
            <a:br/>
            <a:r>
              <a:t>• Authentication vs. Authorization:</a:t>
            </a:r>
            <a:br/>
            <a:r>
              <a:t>  - Authentication ("Who are you?"): Passwords, SSH keys, MFA.</a:t>
            </a:r>
            <a:br/>
            <a:r>
              <a:t>  - Authorization ("What can you do?"): File permissions (rwx), sudoers.</a:t>
            </a:r>
            <a:br/>
            <a:br/>
            <a:r>
              <a:t>• Normal User vs. Root:</a:t>
            </a:r>
            <a:br/>
            <a:r>
              <a:t>  - Default to normal user for daily tasks ($ prompt).</a:t>
            </a:r>
            <a:br/>
            <a:r>
              <a:t>  - Use root/sudo (# prompt) strictly when necessary.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7171"/>
                </a:solidFill>
                <a:latin typeface="Georgia"/>
              </a:defRPr>
            </a:pPr>
            <a:r>
              <a:t>Top 5 Beginner Mistakes &amp; Why chmod 777 Is Harmful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  <a:latin typeface="Calibri"/>
              </a:defRPr>
            </a:pPr>
            <a:r>
              <a:t>• Mistake 1: Running commands without checking 'pwd'.</a:t>
            </a:r>
            <a:br/>
            <a:r>
              <a:t>• Mistake 2: Deleting files without inspecting with 'ls -la'.</a:t>
            </a:r>
            <a:br/>
            <a:r>
              <a:t>• Mistake 3: Using 'sudo' unnecessarily.</a:t>
            </a:r>
            <a:br/>
            <a:r>
              <a:t>• Mistake 4: Confusing absolute (/etc/passwd) and relative (etc/passwd) paths.</a:t>
            </a:r>
            <a:br/>
            <a:r>
              <a:t>• Mistake 5: Using 'chmod 777' as a lazy shortcut!</a:t>
            </a:r>
            <a:br/>
            <a:br/>
            <a:r>
              <a:t>• Why 'chmod 777' Is Dangerous:</a:t>
            </a:r>
            <a:br/>
            <a:r>
              <a:t>  - Grants rwx to Owner, Group, and ALL Others (world-writable).</a:t>
            </a:r>
            <a:br/>
            <a:r>
              <a:t>  - Allows any local process or unprivileged user to modify or execute files.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MODULE 1: FOUNDATIONS | TOPIC 1: LINUX CLI ESSENTIALS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Georgia"/>
              </a:defRPr>
            </a:pPr>
            <a:r>
              <a:t>Cyber Competition Workflow Loop &amp; Mini Hands-On Challenges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Georgia"/>
              </a:defRPr>
            </a:pPr>
            <a:r>
              <a:t>7-Step Competition Operational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  <a:latin typeface="Calibri"/>
              </a:defRPr>
            </a:pPr>
            <a:r>
              <a:t>1. Identify  : whoami, uname -a</a:t>
            </a:r>
            <a:br/>
            <a:r>
              <a:t>2. Orient    : pwd, ls -la</a:t>
            </a:r>
            <a:br/>
            <a:r>
              <a:t>3. Enumerate : cat /etc/passwd, ss -tulpn</a:t>
            </a:r>
            <a:br/>
            <a:r>
              <a:t>4. Analyze   : grep -rnw '/var/www/' -e 'pattern'</a:t>
            </a:r>
            <a:br/>
            <a:r>
              <a:t>5. Act       : Modify configs / remove legacy users</a:t>
            </a:r>
            <a:br/>
            <a:r>
              <a:t>6. Verify    : Confirm service status and permissions</a:t>
            </a:r>
            <a:br/>
            <a:r>
              <a:t>7. Document  : Record commands, findings, and flags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754880"/>
          </a:xfrm>
          <a:prstGeom prst="roundRect">
            <a:avLst/>
          </a:prstGeom>
          <a:solidFill>
            <a:srgbClr val="02061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Calibri"/>
              </a:defRPr>
            </a:pPr>
            <a:r>
              <a:t>💻 Hands-On Recon &amp; Permission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ADE80"/>
                </a:solidFill>
                <a:latin typeface="Consolas"/>
              </a:defRPr>
            </a:pPr>
            <a:r>
              <a:t># Challenge Step 1: Create security file</a:t>
            </a:r>
            <a:br/>
            <a:r>
              <a:t>student@linuxlab:~$ touch security.txt</a:t>
            </a:r>
            <a:br/>
            <a:br/>
            <a:r>
              <a:t># Challenge Step 2: Restrict permissions to owner read/write (600)</a:t>
            </a:r>
            <a:br/>
            <a:r>
              <a:t>student@linuxlab:~$ chmod 600 security.txt</a:t>
            </a:r>
            <a:br/>
            <a:br/>
            <a:r>
              <a:t># Challenge Step 3: Verify permissions</a:t>
            </a:r>
            <a:br/>
            <a:r>
              <a:t>student@linuxlab:~$ ls -l security.txt</a:t>
            </a:r>
            <a:br/>
            <a:r>
              <a:t>-rw------- 1 student student 0 Sep 20 security.txt</a:t>
            </a:r>
            <a:br/>
            <a:br/>
            <a:r>
              <a:t># Challenge Step 4: Test unauthorized user access failure</a:t>
            </a:r>
            <a:br/>
            <a:r>
              <a:t>student@linuxlab:~$ sudo -u vinay cat security.txt</a:t>
            </a:r>
            <a:br/>
            <a:r>
              <a:t>cat: security.txt: Permission denied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MODULE 1: FOUNDATIONS | TOPIC 1: LINUX CLI ESSENTIALS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Georgia"/>
              </a:defRPr>
            </a:pPr>
            <a:r>
              <a:t>Knowledge Check: Interactive Review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Georgia"/>
              </a:defRPr>
            </a:pPr>
            <a:r>
              <a:t>Question 1: Location 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  <a:latin typeface="Calibri"/>
              </a:defRPr>
            </a:pPr>
            <a:r>
              <a:t>Which command displays the current directory?</a:t>
            </a:r>
            <a:br/>
            <a:r>
              <a:t>A. ls   B. pwd   C. cd   D. dir</a:t>
            </a:r>
            <a:br/>
            <a:br/>
            <a:r>
              <a:t>Answer: B (pwd — Print Working Directory)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Georgia"/>
              </a:defRPr>
            </a:pPr>
            <a:r>
              <a:t>Question 2: Hidden Files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  <a:latin typeface="Calibri"/>
              </a:defRPr>
            </a:pPr>
            <a:r>
              <a:t>Which ls flag reveals hidden files starting with a dot (.)?</a:t>
            </a:r>
            <a:br/>
            <a:r>
              <a:t>A. ls -h   B. ls -a   C. show -a   D. dir /h</a:t>
            </a:r>
            <a:br/>
            <a:br/>
            <a:r>
              <a:t>Answer: B (ls -a)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12064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519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Georgia"/>
              </a:defRPr>
            </a:pPr>
            <a:r>
              <a:t>Question 3: Parent Directory Symbol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720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  <a:latin typeface="Calibri"/>
              </a:defRPr>
            </a:pPr>
            <a:r>
              <a:t>What symbol represents the parent directory in relative paths?</a:t>
            </a:r>
            <a:br/>
            <a:r>
              <a:t>A. /   B. ~   C. ..   D. .</a:t>
            </a:r>
            <a:br/>
            <a:br/>
            <a:r>
              <a:t>Answer: C (..)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114800"/>
            <a:ext cx="521208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2519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Georgia"/>
              </a:defRPr>
            </a:pPr>
            <a:r>
              <a:t>Question 4: Superuser UID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57200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  <a:latin typeface="Calibri"/>
              </a:defRPr>
            </a:pPr>
            <a:r>
              <a:t>Which User ID (UID) is permanently reserved for root?</a:t>
            </a:r>
            <a:br/>
            <a:r>
              <a:t>A. UID 1000   B. UID 1   C. UID 0   D. UID 500</a:t>
            </a:r>
            <a:br/>
            <a:br/>
            <a:r>
              <a:t>Answer: C (UID 0)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MODULE 1: FOUNDATIONS | TOPIC 1: LINUX CLI ESSENTIALS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Georgia"/>
              </a:defRPr>
            </a:pPr>
            <a:r>
              <a:t>Linux CLI Essentials Cheat Sheet &amp; Cybersecurity Mindset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Georgia"/>
              </a:defRPr>
            </a:pPr>
            <a:r>
              <a:t>Linux CLI Essentials Command Cheat Sheet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2103120"/>
          <a:ext cx="1036289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114800"/>
                <a:gridCol w="4236415"/>
              </a:tblGrid>
              <a:tr h="51435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Command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Syntax / Options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Competition / Security Purpose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pwd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pwd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Verify current directory location before running commands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ls -la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ls -la [path]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List all files (including hidden) with permissions &amp; timestamps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cd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cd /etc | cd .. | cd ~ | cd -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Navigate directory hierarchy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mkdir / cp / mv / rm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mkdir -p | cp -r | mv | rm -rf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Create, copy, move, rename, and remove files/directories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cat / grep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cat [file] | grep "pattern" [file]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Display file content and search text streams for keywords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whoami / id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whoami | id [username]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Audit current user identity, UID, GID, and group memberships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chmod / chown / sudo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chmod 755 | chown u:g | sudo [cmd]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Modify permissions, ownership, and execute with elevated rights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