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Git's three-stage architecture and why version control is mandatory for CTF competition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essential Git command line interface syntax used to manage evidence and lab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branching strategies and remote team synchronization commands for multi-student blue team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 the required elements of a professional CTF writeup and competition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an exact Markdown report template that students can copy into their lab repositories.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Git and documentation best practices for team cybersecurity competitions.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645920"/>
            <a:ext cx="10362895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548640"/>
          <a:lstStyle/>
          <a:p>
            <a:pPr algn="ctr">
              <a:spcAft>
                <a:spcPts val="1400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t>MODULE 1: FOUNDATIONS — TOPIC PRESENTATION</a:t>
            </a:r>
          </a:p>
          <a:p>
            <a:pPr>
              <a:spcAft>
                <a:spcPts val="1600"/>
              </a:spcAft>
              <a:defRPr sz="3200" b="1">
                <a:solidFill>
                  <a:srgbClr val="F8FAFC"/>
                </a:solidFill>
                <a:latin typeface="Georgia"/>
              </a:defRPr>
            </a:pPr>
            <a:r>
              <a:t>Git Version Control &amp; CTF Documentation</a:t>
            </a:r>
          </a:p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Module 1: Foundations — Topic 5 Comprehensive Student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ARCHITECTURE &amp; WORKFLOW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Georgia"/>
              </a:defRPr>
            </a:pPr>
            <a:r>
              <a:t>Git Version Control Architecture: Working Directory, Staging Area &amp;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  <a:latin typeface="Georgia"/>
              </a:defRPr>
            </a:pPr>
            <a:r>
              <a:t>1. Working Directory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Local Workspace: </a:t>
            </a:r>
            <a:r>
              <a:rPr>
                <a:solidFill>
                  <a:srgbClr val="94A3B8"/>
                </a:solidFill>
              </a:rPr>
              <a:t>The actual filesystem directory containing source files and lab writeups.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Untracked Files: </a:t>
            </a:r>
            <a:r>
              <a:rPr>
                <a:solidFill>
                  <a:srgbClr val="94A3B8"/>
                </a:solidFill>
              </a:rPr>
              <a:t>New files created locally that Git is not yet tracking.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Modified Files: </a:t>
            </a:r>
            <a:r>
              <a:rPr>
                <a:solidFill>
                  <a:srgbClr val="94A3B8"/>
                </a:solidFill>
              </a:rPr>
              <a:t>Existing tracked files containing uncommitted edits.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Status Check: </a:t>
            </a:r>
            <a:r>
              <a:rPr>
                <a:solidFill>
                  <a:srgbClr val="94A3B8"/>
                </a:solidFill>
              </a:rPr>
              <a:t>`git status` displays untracked and modified file states.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8030" y="1371600"/>
            <a:ext cx="347472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  <a:latin typeface="Georgia"/>
              </a:defRPr>
            </a:pPr>
            <a:r>
              <a:t>2. Staging Area (Index)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Preparation Zone: </a:t>
            </a:r>
            <a:r>
              <a:rPr>
                <a:solidFill>
                  <a:srgbClr val="94A3B8"/>
                </a:solidFill>
              </a:rPr>
              <a:t>Intermediate buffer holding changes ready to be committed.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Selective Staging: </a:t>
            </a:r>
            <a:r>
              <a:rPr>
                <a:solidFill>
                  <a:srgbClr val="94A3B8"/>
                </a:solidFill>
              </a:rPr>
              <a:t>`git add filename` stages specific file modifications.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Bulk Staging: </a:t>
            </a:r>
            <a:r>
              <a:rPr>
                <a:solidFill>
                  <a:srgbClr val="94A3B8"/>
                </a:solidFill>
              </a:rPr>
              <a:t>`git add .` stages all modified/untracked files in workspace.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Pre-Commit Review: </a:t>
            </a:r>
            <a:r>
              <a:rPr>
                <a:solidFill>
                  <a:srgbClr val="94A3B8"/>
                </a:solidFill>
              </a:rPr>
              <a:t>Allows developers to curate exact changes before saving.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7420" y="1371600"/>
            <a:ext cx="347472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  <a:latin typeface="Georgia"/>
              </a:defRPr>
            </a:pPr>
            <a:r>
              <a:t>3. Git Repository (.git)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Immutable Commit Database: </a:t>
            </a:r>
            <a:r>
              <a:rPr>
                <a:solidFill>
                  <a:srgbClr val="94A3B8"/>
                </a:solidFill>
              </a:rPr>
              <a:t>Stores cryptographically signed snapshot commits (SHA-1 hashes).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Commit Creation: </a:t>
            </a:r>
            <a:r>
              <a:rPr>
                <a:solidFill>
                  <a:srgbClr val="94A3B8"/>
                </a:solidFill>
              </a:rPr>
              <a:t>`git commit -m 'message'` records staged changes permanently.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History Audit: </a:t>
            </a:r>
            <a:r>
              <a:rPr>
                <a:solidFill>
                  <a:srgbClr val="94A3B8"/>
                </a:solidFill>
              </a:rPr>
              <a:t>`git log --oneline` displays commit history timeline.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Team Synchronization: </a:t>
            </a:r>
            <a:r>
              <a:rPr>
                <a:solidFill>
                  <a:srgbClr val="94A3B8"/>
                </a:solidFill>
              </a:rPr>
              <a:t>`git push` and `git pull` sync commits with remote repositories.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BASIC COMMANDS — CORE GIT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Georgia"/>
              </a:defRPr>
            </a:pPr>
            <a:r>
              <a:t>Fundamental Git CLI Commands for Repository Initialization &amp; Tracking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926080"/>
                <a:gridCol w="4967935"/>
              </a:tblGrid>
              <a:tr h="6172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8BDF8"/>
                          </a:solidFill>
                          <a:latin typeface="Georgia"/>
                        </a:defRPr>
                      </a:pPr>
                      <a:r>
                        <a:t>Git Command Syntax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8BDF8"/>
                          </a:solidFill>
                          <a:latin typeface="Georgia"/>
                        </a:defRPr>
                      </a:pPr>
                      <a:r>
                        <a:t>Primary Function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8BDF8"/>
                          </a:solidFill>
                          <a:latin typeface="Georgia"/>
                        </a:defRPr>
                      </a:pPr>
                      <a:r>
                        <a:t>Competition &amp; Practical Application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  <a:latin typeface="Consolas"/>
                        </a:defRPr>
                      </a:pPr>
                      <a:r>
                        <a:t>git init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Initialize Local Repository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Creates a new empty `.git` repository folder in current workspace directory.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  <a:latin typeface="Consolas"/>
                        </a:defRPr>
                      </a:pPr>
                      <a:r>
                        <a:t>git clone &lt;URL&gt;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Clone Remote Repository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Downloads full remote Git repository, branch history, and working files.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  <a:latin typeface="Consolas"/>
                        </a:defRPr>
                      </a:pPr>
                      <a:r>
                        <a:t>git status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Check Workspace Status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Displays untracked, modified, and staged files awaiting commit.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  <a:latin typeface="Consolas"/>
                        </a:defRPr>
                      </a:pPr>
                      <a:r>
                        <a:t>git add 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Stage All Modifications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Adds all new and modified files in workspace to staging index.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  <a:latin typeface="Consolas"/>
                        </a:defRPr>
                      </a:pPr>
                      <a:r>
                        <a:t>git commit -m 'msg'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Commit Staged Snapshots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Saves staged changes to local repository with descriptive commit message.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  <a:latin typeface="Consolas"/>
                        </a:defRPr>
                      </a:pPr>
                      <a:r>
                        <a:t>git log --oneline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View Compact Commit History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Prints chronological list of past commits, SHA-1 hashes, and message logs.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  <a:latin typeface="Consolas"/>
                        </a:defRPr>
                      </a:pPr>
                      <a:r>
                        <a:t>git diff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Inspect Code Differences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Shows exact line-by-line additions/deletions before staging changes.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BASIC COMMANDS — BRANCHING &amp; 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Georgia"/>
              </a:defRPr>
            </a:pPr>
            <a:r>
              <a:t>Branching, Remote Synchronization &amp; Commit Inspection Commands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743200"/>
                <a:gridCol w="4876495"/>
              </a:tblGrid>
              <a:tr h="70539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8BDF8"/>
                          </a:solidFill>
                          <a:latin typeface="Georgia"/>
                        </a:defRPr>
                      </a:pPr>
                      <a:r>
                        <a:t>Git Command Syntax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8BDF8"/>
                          </a:solidFill>
                          <a:latin typeface="Georgia"/>
                        </a:defRPr>
                      </a:pPr>
                      <a:r>
                        <a:t>Primary Function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8BDF8"/>
                          </a:solidFill>
                          <a:latin typeface="Georgia"/>
                        </a:defRPr>
                      </a:pPr>
                      <a:r>
                        <a:t>Competition &amp; Practical Application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  <a:latin typeface="Consolas"/>
                        </a:defRPr>
                      </a:pPr>
                      <a:r>
                        <a:t>git branch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List Local Branches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Displays all local repository branches; `*` highlights currently active branch.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  <a:latin typeface="Consolas"/>
                        </a:defRPr>
                      </a:pPr>
                      <a:r>
                        <a:t>git checkout -b &lt;name&gt;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Create &amp; Switch Branch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Creates a new feature/fix branch and immediately switches working tree to it.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  <a:latin typeface="Consolas"/>
                        </a:defRPr>
                      </a:pPr>
                      <a:r>
                        <a:t>git merge &lt;branch&gt;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Merge Branch Changes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Combines history from specified branch into currently active branch.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  <a:latin typeface="Consolas"/>
                        </a:defRPr>
                      </a:pPr>
                      <a:r>
                        <a:t>git pull origin main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Fetch &amp; Merge Remote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Downloads latest remote commits and merges them into current local branch.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  <a:latin typeface="Consolas"/>
                        </a:defRPr>
                      </a:pPr>
                      <a:r>
                        <a:t>git push origin main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Upload Local Commits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Uploads local commit history to remote repository (e.g., GitHub / GitLab).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  <a:latin typeface="Consolas"/>
                        </a:defRPr>
                      </a:pPr>
                      <a:r>
                        <a:t>git checkout -- &lt;file&gt;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Discard Local Edits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Reverts uncommitted local changes in working directory back to last commit.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DOCUMENTATION ARCHITECTURE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Georgia"/>
              </a:defRPr>
            </a:pPr>
            <a:r>
              <a:t>Standardized Markdown CTF Challenge Writeup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  <a:latin typeface="Georgia"/>
              </a:defRPr>
            </a:pPr>
            <a:r>
              <a:t>Metadata &amp; Challenge Overview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Challenge Title: </a:t>
            </a:r>
            <a:r>
              <a:rPr>
                <a:solidFill>
                  <a:srgbClr val="94A3B8"/>
                </a:solidFill>
              </a:rPr>
              <a:t>Name of competition challenge and category (e.g., Web, Forensics).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Point Value &amp; Difficulty: </a:t>
            </a:r>
            <a:r>
              <a:rPr>
                <a:solidFill>
                  <a:srgbClr val="94A3B8"/>
                </a:solidFill>
              </a:rPr>
              <a:t>Assigned point reward and difficulty classification.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Author &amp; Date: </a:t>
            </a:r>
            <a:r>
              <a:rPr>
                <a:solidFill>
                  <a:srgbClr val="94A3B8"/>
                </a:solidFill>
              </a:rPr>
              <a:t>Student auditor name and completion timestamp.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Objective Statement: </a:t>
            </a:r>
            <a:r>
              <a:rPr>
                <a:solidFill>
                  <a:srgbClr val="94A3B8"/>
                </a:solidFill>
              </a:rPr>
              <a:t>Core problem statement and target flag format.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8030" y="1371600"/>
            <a:ext cx="347472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  <a:latin typeface="Georgia"/>
              </a:defRPr>
            </a:pPr>
            <a:r>
              <a:t>Recon &amp; Remediation Steps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Exact Terminal Commands: </a:t>
            </a:r>
            <a:r>
              <a:rPr>
                <a:solidFill>
                  <a:srgbClr val="94A3B8"/>
                </a:solidFill>
              </a:rPr>
              <a:t>Record exact CLI commands executed during investigation.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Raw Command Outputs: </a:t>
            </a:r>
            <a:r>
              <a:rPr>
                <a:solidFill>
                  <a:srgbClr val="94A3B8"/>
                </a:solidFill>
              </a:rPr>
              <a:t>Include stdout logs and output snippets demonstrating discovery.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Vulnerability Root Cause: </a:t>
            </a:r>
            <a:r>
              <a:rPr>
                <a:solidFill>
                  <a:srgbClr val="94A3B8"/>
                </a:solidFill>
              </a:rPr>
              <a:t>Explain why system was insecure or how payload executed.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Remediation Actions: </a:t>
            </a:r>
            <a:r>
              <a:rPr>
                <a:solidFill>
                  <a:srgbClr val="94A3B8"/>
                </a:solidFill>
              </a:rPr>
              <a:t>Document exact hardening steps taken to patch flaw.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7420" y="1371600"/>
            <a:ext cx="347472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  <a:latin typeface="Georgia"/>
              </a:defRPr>
            </a:pPr>
            <a:r>
              <a:t>Flag Capture &amp; Verification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Captured Flag String: </a:t>
            </a:r>
            <a:r>
              <a:rPr>
                <a:solidFill>
                  <a:srgbClr val="94A3B8"/>
                </a:solidFill>
              </a:rPr>
              <a:t>Provide exact flag string (e.g., `FLAG{M1_FOUNDATIONS_HARDENED_2026}`).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Verification Evidence: </a:t>
            </a:r>
            <a:r>
              <a:rPr>
                <a:solidFill>
                  <a:srgbClr val="94A3B8"/>
                </a:solidFill>
              </a:rPr>
              <a:t>Terminal screenshot or command output verifying patch.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Git Version Tag: </a:t>
            </a:r>
            <a:r>
              <a:rPr>
                <a:solidFill>
                  <a:srgbClr val="94A3B8"/>
                </a:solidFill>
              </a:rPr>
              <a:t>Tag commit SHA-1 hash associated with completed writeup.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Peer Review: </a:t>
            </a:r>
            <a:r>
              <a:rPr>
                <a:solidFill>
                  <a:srgbClr val="94A3B8"/>
                </a:solidFill>
              </a:rPr>
              <a:t>Secondary student confirmation before final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PRACTICAL REPORT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Georgia"/>
              </a:defRPr>
            </a:pPr>
            <a:r>
              <a:t>Standardized Markdown CTF Challenge Report Code Snippet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475488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38BDF8"/>
                </a:solidFill>
                <a:latin typeface="Georgia"/>
              </a:defRPr>
            </a:pPr>
            <a:r>
              <a:t>Markdown Document Structure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Headers (#, ##): </a:t>
            </a:r>
            <a:r>
              <a:rPr>
                <a:solidFill>
                  <a:srgbClr val="94A3B8"/>
                </a:solidFill>
              </a:rPr>
              <a:t>Establishes clear visual hierarchy for report sections.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Bold &amp; Italics: </a:t>
            </a:r>
            <a:r>
              <a:rPr>
                <a:solidFill>
                  <a:srgbClr val="94A3B8"/>
                </a:solidFill>
              </a:rPr>
              <a:t>Highlights key findings, user accounts, and tool names.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Code Blocks (```): </a:t>
            </a:r>
            <a:r>
              <a:rPr>
                <a:solidFill>
                  <a:srgbClr val="94A3B8"/>
                </a:solidFill>
              </a:rPr>
              <a:t>Formats multiline code snippets and terminal outputs cleanly.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Inline Code (`cmd`): </a:t>
            </a:r>
            <a:r>
              <a:rPr>
                <a:solidFill>
                  <a:srgbClr val="94A3B8"/>
                </a:solidFill>
              </a:rPr>
              <a:t>Highlights specific commands, file paths, and flags inline.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Lists (- or 1.): </a:t>
            </a:r>
            <a:r>
              <a:rPr>
                <a:solidFill>
                  <a:srgbClr val="94A3B8"/>
                </a:solidFill>
              </a:rPr>
              <a:t>Organizes step-by-step remediation procedures sequentially.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371600"/>
            <a:ext cx="6035040" cy="50292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  <a:latin typeface="Consolas"/>
              </a:defRPr>
            </a:pPr>
            <a:r>
              <a:t>Markdown Writeup Template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# CTF Challenge Writeup: Lab 1.1 Linux Hardening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>- **Category:** Blue Team / System Hardening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>- **Date:** 2026-09-16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>- **Auditor:** Vinay (Student Auditor)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/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## 1. Vulnerability Analysis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>Discovered unauthorized user `legacy_admin` and active plaintext `telnet.socket` on Port 23.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/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## 2. Execution &amp; Remediation Commands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>```bash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# Purge unauthorized account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>sudo userdel -r legacy_admin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/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# Stop insecure telnet service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>sudo systemctl stop telnet.socket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>sudo systemctl disable telnet.socket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>```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F8FAFC"/>
                </a:solidFill>
              </a:rPr>
              <a:t/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94A3B8"/>
                </a:solidFill>
              </a:rPr>
              <a:t>## 3. Flag Capture Verification</a:t>
            </a:r>
          </a:p>
          <a:p>
            <a:pPr>
              <a:spcAft>
                <a:spcPts val="200"/>
              </a:spcAft>
              <a:defRPr sz="950">
                <a:latin typeface="Consolas"/>
              </a:defRPr>
            </a:pPr>
            <a:r>
              <a:rPr>
                <a:solidFill>
                  <a:srgbClr val="4ADE80"/>
                </a:solidFill>
              </a:rPr>
              <a:t>- **Captured Flag:** `FLAG{M1_FOUNDATIONS_HARDENED_2026}`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LAB 1.5 SUMMARY &amp; AUDIT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Georgia"/>
              </a:defRPr>
            </a:pPr>
            <a:r>
              <a:t>Lab 1.5 Summary: Team Evidence Tracking &amp; Audit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  <a:latin typeface="Georgia"/>
              </a:defRPr>
            </a:pPr>
            <a:r>
              <a:t>1. Repository Management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Initialize Local Repo: </a:t>
            </a:r>
            <a:r>
              <a:rPr>
                <a:solidFill>
                  <a:srgbClr val="94A3B8"/>
                </a:solidFill>
              </a:rPr>
              <a:t>Maintain `git init` tracking in all team lab workspace directories.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Atomic Commits: </a:t>
            </a:r>
            <a:r>
              <a:rPr>
                <a:solidFill>
                  <a:srgbClr val="94A3B8"/>
                </a:solidFill>
              </a:rPr>
              <a:t>Commit logically isolated changes with clear, descriptive messages.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Branch Isolation: </a:t>
            </a:r>
            <a:r>
              <a:rPr>
                <a:solidFill>
                  <a:srgbClr val="94A3B8"/>
                </a:solidFill>
              </a:rPr>
              <a:t>Use dedicated feature branches for testing high-risk system patches.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8030" y="1371600"/>
            <a:ext cx="347472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  <a:latin typeface="Georgia"/>
              </a:defRPr>
            </a:pPr>
            <a:r>
              <a:t>2. CTF Documentation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Standardized Formatting: </a:t>
            </a:r>
            <a:r>
              <a:rPr>
                <a:solidFill>
                  <a:srgbClr val="94A3B8"/>
                </a:solidFill>
              </a:rPr>
              <a:t>Adhere to structured Markdown templates for all competition challenges.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Complete Proof of Work: </a:t>
            </a:r>
            <a:r>
              <a:rPr>
                <a:solidFill>
                  <a:srgbClr val="94A3B8"/>
                </a:solidFill>
              </a:rPr>
              <a:t>Document exact CLI input commands alongside raw terminal outputs.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Flag Verification: </a:t>
            </a:r>
            <a:r>
              <a:rPr>
                <a:solidFill>
                  <a:srgbClr val="94A3B8"/>
                </a:solidFill>
              </a:rPr>
              <a:t>Include exact flag strings and automated verification script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7420" y="1371600"/>
            <a:ext cx="347472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  <a:latin typeface="Georgia"/>
              </a:defRPr>
            </a:pPr>
            <a:r>
              <a:t>3. Team Collaboration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Version Control Sync: </a:t>
            </a:r>
            <a:r>
              <a:rPr>
                <a:solidFill>
                  <a:srgbClr val="94A3B8"/>
                </a:solidFill>
              </a:rPr>
              <a:t>Synchronize commit history with central team git repository.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Audit Trail Integrity: </a:t>
            </a:r>
            <a:r>
              <a:rPr>
                <a:solidFill>
                  <a:srgbClr val="94A3B8"/>
                </a:solidFill>
              </a:rPr>
              <a:t>Maintain immutable git logs for instructor review and grading.</a:t>
            </a:r>
          </a:p>
          <a:p>
            <a:pPr>
              <a:spcAft>
                <a:spcPts val="600"/>
              </a:spcAft>
              <a:defRPr sz="125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Knowledge Sharing: </a:t>
            </a:r>
            <a:r>
              <a:rPr>
                <a:solidFill>
                  <a:srgbClr val="94A3B8"/>
                </a:solidFill>
              </a:rPr>
              <a:t>Reuse verified CTF writeups to build team competition cheat sheets.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