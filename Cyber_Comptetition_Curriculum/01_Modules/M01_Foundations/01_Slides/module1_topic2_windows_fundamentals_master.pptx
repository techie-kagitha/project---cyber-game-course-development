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1463040"/>
            <a:ext cx="85340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Calibri"/>
              </a:defRPr>
            </a:pPr>
            <a:r>
              <a:t>MODULE 1: FOUNDATIONS OF CYBER COMPETITION</a:t>
            </a:r>
          </a:p>
          <a:p>
            <a:pPr>
              <a:spcAft>
                <a:spcPts val="1000"/>
              </a:spcAft>
              <a:defRPr sz="3200" b="1">
                <a:solidFill>
                  <a:srgbClr val="F8FAFC"/>
                </a:solidFill>
                <a:latin typeface="Georgia"/>
              </a:defRPr>
            </a:pPr>
            <a:r>
              <a:t>Topic 2: Windows Fundamentals</a:t>
            </a:r>
          </a:p>
          <a:p>
            <a:pPr>
              <a:spcAft>
                <a:spcPts val="24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Command-Line Operations, PowerShell Administration &amp; Basic System Security</a:t>
            </a:r>
          </a:p>
          <a:p>
            <a:pPr>
              <a:spcAft>
                <a:spcPts val="800"/>
              </a:spcAft>
              <a:defRPr sz="1400" b="1">
                <a:solidFill>
                  <a:srgbClr val="4ADE80"/>
                </a:solidFill>
                <a:latin typeface="Calibri"/>
              </a:defRPr>
            </a:pPr>
            <a:r>
              <a:t>Core Competencies Covered: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• CMD vs. PowerShell Cmdlet Architecture &amp; Object Pipelining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• Windows Filesystem Structure, Permissions &amp; Search Tools (findstr / Select-String)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• User Account Triage, Privilege Auditing &amp; Local Administrators Group Review</a:t>
            </a:r>
          </a:p>
          <a:p>
            <a:pPr>
              <a:spcAft>
                <a:spcPts val="400"/>
              </a:spcAft>
              <a:defRPr sz="1300">
                <a:solidFill>
                  <a:srgbClr val="E2E8F0"/>
                </a:solidFill>
                <a:latin typeface="Calibri"/>
              </a:defRPr>
            </a:pPr>
            <a:r>
              <a:t>• Process, Service &amp; Listening Port Investigation (netstat -ano -&gt; PID -&gt; Task)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Windows in Cybersecurity: GUI vs. Command-Line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Enterprise &amp; Competition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Ubiquitous Presence:</a:t>
            </a:r>
            <a:r>
              <a:rPr sz="1300" b="0">
                <a:solidFill>
                  <a:srgbClr val="E2E8F0"/>
                </a:solidFill>
                <a:latin typeface="Calibri"/>
              </a:rPr>
              <a:t> Windows is the dominant OS in enterprise networks, government systems, and competition targets.</a:t>
            </a:r>
          </a:p>
          <a:p>
            <a:pPr>
              <a:spcAft>
                <a:spcPts val="1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Key Audit Surfaces:</a:t>
            </a:r>
            <a:r>
              <a:rPr sz="1300" b="0">
                <a:solidFill>
                  <a:srgbClr val="E2E8F0"/>
                </a:solidFill>
                <a:latin typeface="Calibri"/>
              </a:rPr>
              <a:t> Contains user profiles, active services, registry keys, security event logs, and network shares.</a:t>
            </a:r>
          </a:p>
          <a:p>
            <a:pPr>
              <a:spcAft>
                <a:spcPts val="1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Investigation Mindset:</a:t>
            </a:r>
            <a:r>
              <a:rPr sz="1300" b="0">
                <a:solidFill>
                  <a:srgbClr val="E2E8F0"/>
                </a:solidFill>
                <a:latin typeface="Calibri"/>
              </a:rPr>
              <a:t> A Windows host is not just a desktop—it is an event-driven system investigated through commands.</a:t>
            </a:r>
          </a:p>
          <a:p>
            <a:pPr>
              <a:spcAft>
                <a:spcPts val="1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Forensic Relevance:</a:t>
            </a:r>
            <a:r>
              <a:rPr sz="1300" b="0">
                <a:solidFill>
                  <a:srgbClr val="E2E8F0"/>
                </a:solidFill>
                <a:latin typeface="Calibri"/>
              </a:rPr>
              <a:t> Critical evidence (execution history, hidden tasks, persistence) is often hidden from standard GUI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GUI vs. CLI Strategic Comparison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Graphical Interfaces (GUI):</a:t>
            </a:r>
            <a:r>
              <a:rPr sz="1300" b="0">
                <a:solidFill>
                  <a:srgbClr val="E2E8F0"/>
                </a:solidFill>
                <a:latin typeface="Calibri"/>
              </a:rPr>
              <a:t> File Explorer, Task Manager, Event Viewer, Services.msc. Visual but slow, manual, and prone to missing hidden items.</a:t>
            </a:r>
          </a:p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Command-Line Tools (CLI):</a:t>
            </a:r>
            <a:r>
              <a:rPr sz="1300" b="0">
                <a:solidFill>
                  <a:srgbClr val="E2E8F0"/>
                </a:solidFill>
                <a:latin typeface="Calibri"/>
              </a:rPr>
              <a:t> Command Prompt (CMD) and PowerShell. High speed, repeatable scripts, remote administration, and automation.</a:t>
            </a:r>
          </a:p>
          <a:p>
            <a:pPr>
              <a:spcAft>
                <a:spcPts val="1400"/>
              </a:spcAft>
              <a:defRPr sz="1300" b="1">
                <a:solidFill>
                  <a:srgbClr val="38BDF8"/>
                </a:solidFill>
                <a:latin typeface="Calibri"/>
              </a:defRPr>
            </a:pPr>
            <a:r>
              <a:t>Why CLI Dominates CTFs:</a:t>
            </a:r>
            <a:r>
              <a:rPr sz="1300" b="0">
                <a:solidFill>
                  <a:srgbClr val="E2E8F0"/>
                </a:solidFill>
                <a:latin typeface="Calibri"/>
              </a:rPr>
              <a:t> Rapid triage under time pressure, precise string filtering, access to system APIs, and lightweight script execution.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Command Prompt (CMD) vs. PowerShell Environments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14800"/>
                <a:gridCol w="4144975"/>
              </a:tblGrid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8BDF8"/>
                          </a:solidFill>
                          <a:latin typeface="Calibri"/>
                        </a:rPr>
                        <a:t>Feature 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8BDF8"/>
                          </a:solidFill>
                          <a:latin typeface="Calibri"/>
                        </a:rPr>
                        <a:t>Command Prompt (CMD)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38BDF8"/>
                          </a:solidFill>
                          <a:latin typeface="Calibri"/>
                        </a:rPr>
                        <a:t>Windows PowerShell (PS)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8FAFC"/>
                          </a:solidFill>
                          <a:latin typeface="Calibri"/>
                        </a:rPr>
                        <a:t>Architecture Model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2E8F0"/>
                          </a:solidFill>
                          <a:latin typeface="Calibri"/>
                        </a:rPr>
                        <a:t>Legacy text-based command interpreter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2E8F0"/>
                          </a:solidFill>
                          <a:latin typeface="Calibri"/>
                        </a:rPr>
                        <a:t>Modern object-oriented shell &amp; .NET scripting platform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8FAFC"/>
                          </a:solidFill>
                          <a:latin typeface="Calibri"/>
                        </a:rPr>
                        <a:t>Data Handling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2E8F0"/>
                          </a:solidFill>
                          <a:latin typeface="Calibri"/>
                        </a:rPr>
                        <a:t>Passes raw unstructured text streams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2E8F0"/>
                          </a:solidFill>
                          <a:latin typeface="Calibri"/>
                        </a:rPr>
                        <a:t>Passes structured .NET objects down pipeline (|)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8FAFC"/>
                          </a:solidFill>
                          <a:latin typeface="Calibri"/>
                        </a:rPr>
                        <a:t>Script Extensions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2E8F0"/>
                          </a:solidFill>
                          <a:latin typeface="Calibri"/>
                        </a:rPr>
                        <a:t>.bat / .cmd batch files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2E8F0"/>
                          </a:solidFill>
                          <a:latin typeface="Calibri"/>
                        </a:rPr>
                        <a:t>.ps1 PowerShell scripts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8FAFC"/>
                          </a:solidFill>
                          <a:latin typeface="Calibri"/>
                        </a:rPr>
                        <a:t>Command Syntax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2E8F0"/>
                          </a:solidFill>
                          <a:latin typeface="Calibri"/>
                        </a:rPr>
                        <a:t>Traditional Windows commands (dir, type, net)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2E8F0"/>
                          </a:solidFill>
                          <a:latin typeface="Calibri"/>
                        </a:rPr>
                        <a:t>Verb-Noun cmdlets (Get-Service, Select-Object)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8FAFC"/>
                          </a:solidFill>
                          <a:latin typeface="Calibri"/>
                        </a:rPr>
                        <a:t>Competition Rule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2E8F0"/>
                          </a:solidFill>
                          <a:latin typeface="Calibri"/>
                        </a:rPr>
                        <a:t>PowerShell cmdlets DO NOT work in CMD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E2E8F0"/>
                          </a:solidFill>
                          <a:latin typeface="Calibri"/>
                        </a:rPr>
                        <a:t>CMD utilities &amp; Linux aliases (ls, cat) work in PS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Windows Filesystem Structure &amp; Key System Directories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Filesystem Architecture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Drive Letters:</a:t>
            </a:r>
            <a:r>
              <a:rPr sz="1300">
                <a:solidFill>
                  <a:srgbClr val="E2E8F0"/>
                </a:solidFill>
                <a:latin typeface="Calibri"/>
              </a:rPr>
              <a:t> Windows mounts storage volumes as drive letters (C:\, D:\) rather than a single root (/) tree.</a:t>
            </a:r>
          </a:p>
          <a:p>
            <a:pPr>
              <a:spcAft>
                <a:spcPts val="1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Path Separator:</a:t>
            </a:r>
            <a:r>
              <a:rPr sz="1300">
                <a:solidFill>
                  <a:srgbClr val="E2E8F0"/>
                </a:solidFill>
                <a:latin typeface="Calibri"/>
              </a:rPr>
              <a:t> Uses backslash (\) for path separation (e.g., C:\Users\Student) whereas Linux uses forward slash (/).</a:t>
            </a:r>
          </a:p>
          <a:p>
            <a:pPr>
              <a:spcAft>
                <a:spcPts val="1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User Profiles:</a:t>
            </a:r>
            <a:r>
              <a:rPr sz="1300">
                <a:solidFill>
                  <a:srgbClr val="E2E8F0"/>
                </a:solidFill>
                <a:latin typeface="Calibri"/>
              </a:rPr>
              <a:t> Stored under C:\Users\&lt;Username&gt;. Holds Desktop, Downloads, Documents, AppData, and NTUSER.DAT.</a:t>
            </a:r>
          </a:p>
          <a:p>
            <a:pPr>
              <a:spcAft>
                <a:spcPts val="1200"/>
              </a:spcAft>
              <a:defRPr sz="1300" b="1">
                <a:solidFill>
                  <a:srgbClr val="4ADE80"/>
                </a:solidFill>
                <a:latin typeface="Calibri"/>
              </a:defRPr>
            </a:pPr>
            <a:r>
              <a:t>Cross-Platform Map:</a:t>
            </a:r>
            <a:r>
              <a:rPr sz="1300">
                <a:solidFill>
                  <a:srgbClr val="E2E8F0"/>
                </a:solidFill>
                <a:latin typeface="Calibri"/>
              </a:rPr>
              <a:t> C:\Users\Student on Windows directly corresponds to /home/student on Linux.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Critical Directories &amp; Security Relevance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11680"/>
          <a:ext cx="48463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3017520"/>
              </a:tblGrid>
              <a:tr h="670560">
                <a:tc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/>
                  </a:txBody>
                  <a:tcPr/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8BDF8"/>
                          </a:solidFill>
                          <a:latin typeface="Calibri"/>
                        </a:rPr>
                        <a:t>C:\Windows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OS system files, system32, drivers, event logs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8BDF8"/>
                          </a:solidFill>
                          <a:latin typeface="Calibri"/>
                        </a:rPr>
                        <a:t>C:\Users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User profile directories and user application data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8BDF8"/>
                          </a:solidFill>
                          <a:latin typeface="Calibri"/>
                        </a:rPr>
                        <a:t>C:\Program Files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64-bit installed application binaries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8BDF8"/>
                          </a:solidFill>
                          <a:latin typeface="Calibri"/>
                        </a:rPr>
                        <a:t>C:\Program Files (x86)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32-bit installed software executables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6705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38BDF8"/>
                          </a:solidFill>
                          <a:latin typeface="Calibri"/>
                        </a:rPr>
                        <a:t>C:\ProgramData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E2E8F0"/>
                          </a:solidFill>
                          <a:latin typeface="Calibri"/>
                        </a:rPr>
                        <a:t>Hidden system-wide application data &amp; configs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File Navigation &amp; Directory Listing Commands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Command Prompt (CMD) Listing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754880" cy="146304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3891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C:\Users\Student&gt; dir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C:\Users\Student&gt; dir /a   # Display hidden &amp; system files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C:\Users\Student&gt; dir /s /b *.txt  # Recursive clean search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21945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PowerShell Get-ChildItem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011680"/>
            <a:ext cx="4846320" cy="146304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2148840"/>
            <a:ext cx="448056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C:\Users\Student&gt; Get-ChildItem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C:\Users\Student&gt; Get-ChildItem -Force   # Include hidden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C:\Users\Student&gt; Get-ChildItem -Recurse -Filter *.txt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931920"/>
            <a:ext cx="10728655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4069080"/>
            <a:ext cx="103628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Path Navigation Mechanics &amp; Special Indicators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4ADE80"/>
                </a:solidFill>
                <a:latin typeface="Calibri"/>
              </a:defRPr>
            </a:pPr>
            <a:r>
              <a:t>Absolute vs. Relative Paths:</a:t>
            </a:r>
            <a:r>
              <a:rPr sz="1200">
                <a:solidFill>
                  <a:srgbClr val="E2E8F0"/>
                </a:solidFill>
                <a:latin typeface="Calibri"/>
              </a:rPr>
              <a:t> Absolute paths start from the drive root (C:\Users\Student\report.txt). Relative paths start from current directory (Documents\report.txt).</a:t>
            </a:r>
          </a:p>
          <a:p>
            <a:pPr>
              <a:spcAft>
                <a:spcPts val="600"/>
              </a:spcAft>
              <a:defRPr sz="1200" b="1">
                <a:solidFill>
                  <a:srgbClr val="4ADE80"/>
                </a:solidFill>
                <a:latin typeface="Calibri"/>
              </a:defRPr>
            </a:pPr>
            <a:r>
              <a:t>Directory Switching (cd):</a:t>
            </a:r>
            <a:r>
              <a:rPr sz="1200">
                <a:solidFill>
                  <a:srgbClr val="E2E8F0"/>
                </a:solidFill>
                <a:latin typeface="Calibri"/>
              </a:rPr>
              <a:t> Change directory via 'cd C:\Windows' or 'cd ..' (move up one level). View current directory in PS with 'Get-Location'.</a:t>
            </a:r>
          </a:p>
          <a:p>
            <a:pPr>
              <a:spcAft>
                <a:spcPts val="600"/>
              </a:spcAft>
              <a:defRPr sz="1200" b="1">
                <a:solidFill>
                  <a:srgbClr val="4ADE80"/>
                </a:solidFill>
                <a:latin typeface="Calibri"/>
              </a:defRPr>
            </a:pPr>
            <a:r>
              <a:t>Cybersecurity Relevance:</a:t>
            </a:r>
            <a:r>
              <a:rPr sz="1200">
                <a:solidFill>
                  <a:srgbClr val="E2E8F0"/>
                </a:solidFill>
                <a:latin typeface="Calibri"/>
              </a:rPr>
              <a:t> Adversaries frequently place payloads in hidden directories or temp folders (C:\ProgramData, C:\Users\Public). Always audit with /a or -Force.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Viewing, Managing &amp; Manipulating Files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Viewing File 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754880" cy="201168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38912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CMD File Viewing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C:\Users\Student&gt; type notes.txt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PowerShell File Viewing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C:\Users\Student&gt; Get-Content notes.txt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C:\Users\Student&gt; Get-Content notes.txt -Head 10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Linux Equivalent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$ cat notes.txt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8BDF8"/>
                </a:solidFill>
                <a:latin typeface="Calibri"/>
              </a:defRPr>
            </a:pPr>
            <a:r>
              <a:t>Evidence Preservation Principle:</a:t>
            </a:r>
          </a:p>
          <a:p>
            <a:pPr>
              <a:defRPr sz="1100">
                <a:solidFill>
                  <a:srgbClr val="E2E8F0"/>
                </a:solidFill>
                <a:latin typeface="Calibri"/>
              </a:defRPr>
            </a:pPr>
            <a:r>
              <a:t>Before editing or analyzing suspicious configuration files during a competition, always make a clean backup copy using copy or Copy-Item.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File Operations Comparison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0" y="2011680"/>
          <a:ext cx="48463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1280160"/>
                <a:gridCol w="1463040"/>
                <a:gridCol w="1097280"/>
              </a:tblGrid>
              <a:tr h="8046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CMD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PowerShell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Linux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Create Dir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mkdir lab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New-Item -Type Dir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mkdir lab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Copy File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copy a b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Copy-Item a b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cp a b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Move/Rename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move / rename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Move-Item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mv a b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80467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Delete File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del file.txt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Remove-Item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rm file.txt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Text Pattern Searching: findstr &amp; Select-String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CMD Pattern Search (findstr)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754880" cy="237744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38912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Search string in single file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findstr "admin" users.txt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Recursive case-insensitive search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findstr /S /I "password" *.txt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Key Options: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/S -&gt; Search current dir &amp; subdirectories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/I -&gt; Case-insensitive search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/N -&gt; Print line numbers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ADE80"/>
                </a:solidFill>
              </a:defRPr>
            </a:pPr>
            <a:r>
              <a:t>Cybersecurity Use Cases: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Audit unencrypted config files for hardcoded passwords, API keys, user lists, and CTF flag strings.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PowerShell Pattern Search (Select-String)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4846320" cy="237744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480560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Basic search cmdlet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Select-String "admin" users.txt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Recursive pipeline search across files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Get-ChildItem -Recurse -File | 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        Select-String "password"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Match pattern with regex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Select-String -Path *.log -Pattern "FLAG{.*}"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57200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PowerShell Object Advantage: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Select-String returns MatchInfo objects containing filename, line number, and line content, enabling automated analysis.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User Accounts, Privileges &amp; Administrator Auditing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User Identification Commands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754880" cy="228600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38912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Identify current user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whoami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desktop01\student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List all local user accounts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net user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Inspect specific user details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net user student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PowerShell cmdlet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Get-LocalUser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8056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User Audit Red Flags: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Look for unexpected accounts, recently created users, disabled default accounts re-enabled, or backdoor admin accounts.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Administrators Group Privileges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4846320" cy="228600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4805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List local Administrators group members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net localgroup administrators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PowerShell equivalent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Get-LocalGroupMember -Group "Administrators"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Revoke admin rights from user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Remove-LocalGroupMember -Group "Administrators" -Member "unauthorized_user"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Disable suspicious account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Disable-LocalUser -Name "unauthorized_user"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480560"/>
            <a:ext cx="48463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ADE80"/>
                </a:solidFill>
              </a:defRPr>
            </a:pPr>
            <a:r>
              <a:t>Least Privilege Principle: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Administrative access must be strictly limited. Standard users should never belong to the local Administrators group.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System Information &amp; Host Baseline Gathering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CMD systeminfo Utility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754880" cy="21945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3891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systeminfo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Output includes: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- OS Name &amp; Exact Version/Build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- System Hostname &amp; Domain/Workgroup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- System Manufacturer &amp; Hardware Specs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- Installed Hotfixes / Security Patches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- Network Adapter Specifications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ADE80"/>
                </a:solidFill>
              </a:defRPr>
            </a:pPr>
            <a:r>
              <a:t>Patch Level Analysis: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Auditing installed KB hotfixes reveals whether a Windows host is vulnerable to known privilege escalation exploits (e.g., EternalBlue, PrintNightmare).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PowerShell Get-ComputerInfo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4846320" cy="21945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48056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Full computer information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Get-ComputerInfo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Filter specific OS properties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Get-ComputerInfo | 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        Select-Object WindowsProductName, 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                      WindowsVersion, 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                      OsHardwareAbstractionLayer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Inspect uptime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(Get-Date) - (Get-CimInstance Win32_OperatingSystem).LastBootUpTime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Targeted Query Rule: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Do not collect data randomly. Query specific properties needed to answer targeted security questions during competition triage.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Processes &amp; Service Investigation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Process Auditing (tasklist / Get-Process)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754880" cy="21945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3891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CMD List running tasks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tasklist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Search process by name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tasklist /FI "IMAGENAME eq cmd.exe"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PowerShell Get-Process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Get-Process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Get-Process -Name "chrome"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Get-Process | Where-Object {$_.CPU -gt 100}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Process Red Flags: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Look for suspicious process names masquerading as system binaries (e.g., svchost.exe running from user folder).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Service Control &amp; Persistence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4846320" cy="21945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48056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CMD Query services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sc query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PowerShell Get-Service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Get-Service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Get-Service | Where-Object {$_.Status -eq "Running"}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Stop and disable unnecessary service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Stop-Service -Name "RemoteRegistry" -Force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Set-Service -Name "RemoteRegistry" -StartupType Disabled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ADE80"/>
                </a:solidFill>
              </a:defRPr>
            </a:pPr>
            <a:r>
              <a:t>Persistence via Services: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Attackers install malicious services for persistence. Verify service binary path, user context, and startup configuration.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Networking Configuration &amp; Socket-to-Process Mapping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Network Interface Configuration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754880" cy="21945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38912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Inspect IP, Subnet, MAC &amp; Gateway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ipconfig /all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Test connectivity to gateway or remote host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ping 10.10.10.1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PowerShell Cmdlet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Get-NetIPConfiguration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Test-NetConnection -ComputerName 10.10.10.1 -Port 80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4ADE80"/>
                </a:solidFill>
              </a:defRPr>
            </a:pPr>
            <a:r>
              <a:t>Ping Caveat: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 failed ICMP ping response does not prove a target host is offline—host firewalls (Windows Defender) block ICMP by default.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netstat Socket-to-Process Mapping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2011680"/>
            <a:ext cx="4846320" cy="21945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148840"/>
            <a:ext cx="448056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Display all active sockets with PID (-o)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netstat -ano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Sample Output: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TCP  0.0.0.0:3389  0.0.0.0:0  LISTENING  1234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Map PID 1234 to owning process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C:\&gt; tasklist /FI "PID eq 1234"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Investigation Chain:</a:t>
            </a: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Port (3389) -&gt; PID (1234) -&gt; Process (termsrv.exe)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8912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38BDF8"/>
                </a:solidFill>
              </a:defRPr>
            </a:pPr>
            <a:r>
              <a:t>Port Triage Chain:</a:t>
            </a:r>
          </a:p>
          <a:p>
            <a:pPr>
              <a:defRPr sz="1100">
                <a:solidFill>
                  <a:srgbClr val="E2E8F0"/>
                </a:solidFill>
              </a:defRPr>
            </a:pPr>
            <a:r>
              <a:t>Always trace listening network ports back to their owning PID and application binary to identify unauthorized listeners.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PowerShell Object Pipeline Mechanics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How the Pipeline Works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200">
                <a:solidFill>
                  <a:srgbClr val="38BDF8"/>
                </a:solidFill>
              </a:defRPr>
            </a:pPr>
            <a:r>
              <a:t>Object vs. Text:</a:t>
            </a:r>
            <a:r>
              <a:rPr sz="1200">
                <a:solidFill>
                  <a:srgbClr val="E2E8F0"/>
                </a:solidFill>
              </a:rPr>
              <a:t> Unlike CMD or Linux Bash which pipe raw text lines, PowerShell passes rich .NET objects containing properties and methods.</a:t>
            </a:r>
          </a:p>
          <a:p>
            <a:pPr>
              <a:spcAft>
                <a:spcPts val="1000"/>
              </a:spcAft>
              <a:defRPr b="1" sz="1200">
                <a:solidFill>
                  <a:srgbClr val="38BDF8"/>
                </a:solidFill>
              </a:defRPr>
            </a:pPr>
            <a:r>
              <a:t>Filtering (Where-Object):</a:t>
            </a:r>
            <a:r>
              <a:rPr sz="1200">
                <a:solidFill>
                  <a:srgbClr val="E2E8F0"/>
                </a:solidFill>
              </a:rPr>
              <a:t> Filters objects based on property values without complex regex text parsing.</a:t>
            </a:r>
          </a:p>
          <a:p>
            <a:pPr>
              <a:spcAft>
                <a:spcPts val="1000"/>
              </a:spcAft>
              <a:defRPr b="1" sz="1200">
                <a:solidFill>
                  <a:srgbClr val="38BDF8"/>
                </a:solidFill>
              </a:defRPr>
            </a:pPr>
            <a:r>
              <a:t>Formatting (Select-Object):</a:t>
            </a:r>
            <a:r>
              <a:rPr sz="1200">
                <a:solidFill>
                  <a:srgbClr val="E2E8F0"/>
                </a:solidFill>
              </a:rPr>
              <a:t> Extracts only relevant properties for clean report generation.</a:t>
            </a:r>
          </a:p>
          <a:p>
            <a:pPr>
              <a:spcAft>
                <a:spcPts val="1000"/>
              </a:spcAft>
              <a:defRPr b="1" sz="1200">
                <a:solidFill>
                  <a:srgbClr val="38BDF8"/>
                </a:solidFill>
              </a:defRPr>
            </a:pPr>
            <a:r>
              <a:t>Pipeline Flow:</a:t>
            </a:r>
            <a:r>
              <a:rPr sz="1200">
                <a:solidFill>
                  <a:srgbClr val="E2E8F0"/>
                </a:solidFill>
              </a:rPr>
              <a:t> Command A (Generates Objects) -&gt; | -&gt; Command B (Filters Objects) -&gt; | -&gt; Command C (Formats Output).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Pipeline Code Examples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48840"/>
            <a:ext cx="448056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Filter running services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Get-Service | 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        Where-Object {$_.Status -eq "Running"}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Filter high-memory processes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Get-Process | 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        Where-Object {$_.WorkingSet -gt 100MB} | 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        Select-Object Name, Id, WorkingSet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Audit disabled user accounts</a:t>
            </a:r>
          </a:p>
          <a:p>
            <a:pPr>
              <a:spcAft>
                <a:spcPts val="300"/>
              </a:spcAft>
              <a:defRPr sz="1200" b="1">
                <a:solidFill>
                  <a:srgbClr val="4ADE80"/>
                </a:solidFill>
                <a:latin typeface="Consolas"/>
              </a:defRPr>
            </a:pPr>
            <a:r>
              <a:t>PS C:\&gt; Get-LocalUser | 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        Where-Object {$_.Enabled -eq $False}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Windows Security Concepts: Auth vs. Authz &amp; Accounts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Authentication vs. Authorization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200">
                <a:solidFill>
                  <a:srgbClr val="4ADE80"/>
                </a:solidFill>
              </a:defRPr>
            </a:pPr>
            <a:r>
              <a:t>Authentication (Who are you?):</a:t>
            </a:r>
            <a:r>
              <a:rPr sz="1200">
                <a:solidFill>
                  <a:srgbClr val="E2E8F0"/>
                </a:solidFill>
              </a:rPr>
              <a:t> Verification of user identity (e.g., username + password, kerberos ticket, smart card). Demonstrated by 'whoami'.</a:t>
            </a:r>
          </a:p>
          <a:p>
            <a:pPr>
              <a:spcAft>
                <a:spcPts val="1200"/>
              </a:spcAft>
              <a:defRPr b="1" sz="1200">
                <a:solidFill>
                  <a:srgbClr val="4ADE80"/>
                </a:solidFill>
              </a:defRPr>
            </a:pPr>
            <a:r>
              <a:t>Authorization (What can you do?):</a:t>
            </a:r>
            <a:r>
              <a:rPr sz="1200">
                <a:solidFill>
                  <a:srgbClr val="E2E8F0"/>
                </a:solidFill>
              </a:rPr>
              <a:t> Enforces what permissions an authenticated identity possesses (e.g., reading a file, restarting a service). Demonstrated by 'net localgroup administrators'.</a:t>
            </a:r>
          </a:p>
          <a:p>
            <a:pPr>
              <a:spcAft>
                <a:spcPts val="1200"/>
              </a:spcAft>
              <a:defRPr b="1" sz="1200">
                <a:solidFill>
                  <a:srgbClr val="4ADE80"/>
                </a:solidFill>
              </a:defRPr>
            </a:pPr>
            <a:r>
              <a:t>LSA &amp; Security Identifiers:</a:t>
            </a:r>
            <a:r>
              <a:rPr sz="1200">
                <a:solidFill>
                  <a:srgbClr val="E2E8F0"/>
                </a:solidFill>
              </a:rPr>
              <a:t> Windows assigns Security Identifiers (SIDs) to accounts and evaluates Access Control Lists (ACLs) on objects.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Standard User vs. Administrator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2011680"/>
          <a:ext cx="48463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737360"/>
                <a:gridCol w="1737360"/>
              </a:tblGrid>
              <a:tr h="100584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Standard User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Administrator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Privileges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Restricted user rights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Full elevated rights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System Changes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Cannot install drivers/services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Can modify registry &amp; OS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Compromise Impact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Low impact (user scope)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alibri"/>
                        </a:defRPr>
                      </a:pPr>
                      <a:r>
                        <a:t>High impact (full takeover)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Windows System Investigation &amp; Incident Response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1. Identify Self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2860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Consolas"/>
              </a:defRPr>
            </a:pPr>
            <a:r>
              <a:t>whoami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1188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2. Host 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22860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Consolas"/>
              </a:defRPr>
            </a:pPr>
            <a:r>
              <a:t>systeminfo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3. User Triage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22860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Consolas"/>
              </a:defRPr>
            </a:pPr>
            <a:r>
              <a:t>net user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4592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178308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4. Admin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0" y="228600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Consolas"/>
              </a:defRPr>
            </a:pPr>
            <a:r>
              <a:t>net localgroup administrators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40233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160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5. Task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63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Consolas"/>
              </a:defRPr>
            </a:pPr>
            <a:r>
              <a:t>tasklist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40233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11880" y="4160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6. Socket 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4663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Consolas"/>
              </a:defRPr>
            </a:pPr>
            <a:r>
              <a:t>netstat -ano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26480" y="40233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4160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7. PID Mapping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63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Consolas"/>
              </a:defRPr>
            </a:pPr>
            <a:r>
              <a:t>tasklist /FI "PID eq X"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23960" y="4023360"/>
            <a:ext cx="256032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06840" y="416052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8. Remediation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0" y="4663440"/>
            <a:ext cx="22860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ADE80"/>
                </a:solidFill>
                <a:latin typeface="Consolas"/>
              </a:defRPr>
            </a:pPr>
            <a:r>
              <a:t>Stop-Service / Disable-LocalUser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Cross-Platform Command Reference Matrix (Windows vs. Linux)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463040"/>
          <a:ext cx="10728655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41855"/>
                <a:gridCol w="2743200"/>
                <a:gridCol w="3200400"/>
                <a:gridCol w="2743200"/>
              </a:tblGrid>
              <a:tr h="48463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Task Description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Windows CMD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Windows PowerShell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38BDF8"/>
                          </a:solidFill>
                          <a:latin typeface="Calibri"/>
                        </a:defRPr>
                      </a:pPr>
                      <a:r>
                        <a:t>Linux Bash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List Files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dir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Get-ChildItem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ls -la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View File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type notes.txt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Get-Content notes.txt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cat notes.txt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Current User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whoami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whoami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whoami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Search Text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findstr /I "pass"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Select-String "pass"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grep -i "pass"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System Info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systeminfo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Get-ComputerInfo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uname -a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Processes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tasklist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Get-Process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ps aux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Services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sc query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Get-Service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systemctl status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Network Config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ipconfig /all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Get-NetIPConfiguration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ip addr / ifconfig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F8FAFC"/>
                          </a:solidFill>
                          <a:latin typeface="Calibri"/>
                        </a:defRPr>
                      </a:pPr>
                      <a:r>
                        <a:t>Connections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netstat -ano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Get-NetTCPConnection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E2E8F0"/>
                          </a:solidFill>
                          <a:latin typeface="Consolas"/>
                        </a:defRPr>
                      </a:pPr>
                      <a:r>
                        <a:t>ss -tulpn</a:t>
                      </a:r>
                    </a:p>
                  </a:txBody>
                  <a:tcPr>
                    <a:solidFill>
                      <a:srgbClr val="0206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100" b="1">
                <a:solidFill>
                  <a:srgbClr val="38BDF8"/>
                </a:solidFill>
                <a:latin typeface="Calibri"/>
              </a:defRPr>
            </a:pPr>
            <a:r>
              <a:t>TOPIC 2: WINDOWS FUNDAMENTALS</a:t>
            </a:r>
          </a:p>
          <a:p>
            <a:pPr>
              <a:defRPr sz="2200" b="1">
                <a:solidFill>
                  <a:srgbClr val="F8FAFC"/>
                </a:solidFill>
                <a:latin typeface="Georgia"/>
              </a:defRPr>
            </a:pPr>
            <a:r>
              <a:t>Master Windows CLI Cheat Sheet &amp; Cyber Competition Loop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00200"/>
            <a:ext cx="4754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Essential Windows Commands Cheat Sheet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4754880" cy="4023360"/>
          </a:xfrm>
          <a:prstGeom prst="rect">
            <a:avLst/>
          </a:prstGeom>
          <a:solidFill>
            <a:srgbClr val="020617"/>
          </a:solidFill>
          <a:ln w="127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48840"/>
            <a:ext cx="4389120" cy="3749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/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User &amp; Privilege Triage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whoami &amp; net user &amp; net localgroup administrators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Process &amp; Service Auditing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tasklist /FI "STATUS eq RUNNING"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Get-Service | Where-Object {$_.Status -eq "Running"}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Socket Triage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netstat -ano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tasklist /FI "PID eq &lt;PID&gt;"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</a:p>
          <a:p>
            <a:pPr>
              <a:spcAft>
                <a:spcPts val="300"/>
              </a:spcAft>
              <a:defRPr sz="1200">
                <a:solidFill>
                  <a:srgbClr val="94A3B8"/>
                </a:solidFill>
                <a:latin typeface="Consolas"/>
              </a:defRPr>
            </a:pPr>
            <a:r>
              <a:t># System Baseline</a:t>
            </a:r>
          </a:p>
          <a:p>
            <a:pPr>
              <a:spcAft>
                <a:spcPts val="300"/>
              </a:spcAft>
              <a:defRPr sz="1200">
                <a:solidFill>
                  <a:srgbClr val="E2E8F0"/>
                </a:solidFill>
                <a:latin typeface="Consolas"/>
              </a:defRPr>
            </a:pPr>
            <a:r>
              <a:t>systeminfo | findstr /B /C:"OS Name" /C:"OS Version"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Georgia"/>
              </a:defRPr>
            </a:pPr>
            <a:r>
              <a:t>Cyber Competition Investigation Mindset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0116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b="1" sz="1100">
                <a:solidFill>
                  <a:srgbClr val="4ADE80"/>
                </a:solidFill>
              </a:defRPr>
            </a:pPr>
            <a:r>
              <a:t>1. Identify:</a:t>
            </a:r>
            <a:r>
              <a:rPr sz="1100">
                <a:solidFill>
                  <a:srgbClr val="E2E8F0"/>
                </a:solidFill>
              </a:rPr>
              <a:t> Know your account identity and privilege boundary (whoami).</a:t>
            </a:r>
          </a:p>
          <a:p>
            <a:pPr>
              <a:spcAft>
                <a:spcPts val="800"/>
              </a:spcAft>
              <a:defRPr b="1" sz="1100">
                <a:solidFill>
                  <a:srgbClr val="4ADE80"/>
                </a:solidFill>
              </a:defRPr>
            </a:pPr>
            <a:r>
              <a:t>2. Orient:</a:t>
            </a:r>
            <a:r>
              <a:rPr sz="1100">
                <a:solidFill>
                  <a:srgbClr val="E2E8F0"/>
                </a:solidFill>
              </a:rPr>
              <a:t> Understand where you are in the filesystem (cd, dir /a).</a:t>
            </a:r>
          </a:p>
          <a:p>
            <a:pPr>
              <a:spcAft>
                <a:spcPts val="800"/>
              </a:spcAft>
              <a:defRPr b="1" sz="1100">
                <a:solidFill>
                  <a:srgbClr val="4ADE80"/>
                </a:solidFill>
              </a:defRPr>
            </a:pPr>
            <a:r>
              <a:t>3. System Baseline:</a:t>
            </a:r>
            <a:r>
              <a:rPr sz="1100">
                <a:solidFill>
                  <a:srgbClr val="E2E8F0"/>
                </a:solidFill>
              </a:rPr>
              <a:t> Check OS version, hotfixes, and patch levels (systeminfo).</a:t>
            </a:r>
          </a:p>
          <a:p>
            <a:pPr>
              <a:spcAft>
                <a:spcPts val="800"/>
              </a:spcAft>
              <a:defRPr b="1" sz="1100">
                <a:solidFill>
                  <a:srgbClr val="4ADE80"/>
                </a:solidFill>
              </a:defRPr>
            </a:pPr>
            <a:r>
              <a:t>4. User Triage:</a:t>
            </a:r>
            <a:r>
              <a:rPr sz="1100">
                <a:solidFill>
                  <a:srgbClr val="E2E8F0"/>
                </a:solidFill>
              </a:rPr>
              <a:t> Inspect local accounts and admin memberships (net user).</a:t>
            </a:r>
          </a:p>
          <a:p>
            <a:pPr>
              <a:spcAft>
                <a:spcPts val="800"/>
              </a:spcAft>
              <a:defRPr b="1" sz="1100">
                <a:solidFill>
                  <a:srgbClr val="4ADE80"/>
                </a:solidFill>
              </a:defRPr>
            </a:pPr>
            <a:r>
              <a:t>5. Port &amp; PID Audit:</a:t>
            </a:r>
            <a:r>
              <a:rPr sz="1100">
                <a:solidFill>
                  <a:srgbClr val="E2E8F0"/>
                </a:solidFill>
              </a:rPr>
              <a:t> Trace listening ports back to processes (netstat -ano).</a:t>
            </a:r>
          </a:p>
          <a:p>
            <a:pPr>
              <a:spcAft>
                <a:spcPts val="800"/>
              </a:spcAft>
              <a:defRPr b="1" sz="1100">
                <a:solidFill>
                  <a:srgbClr val="4ADE80"/>
                </a:solidFill>
              </a:defRPr>
            </a:pPr>
            <a:r>
              <a:t>6. Document &amp; Act:</a:t>
            </a:r>
            <a:r>
              <a:rPr sz="1100">
                <a:solidFill>
                  <a:srgbClr val="E2E8F0"/>
                </a:solidFill>
              </a:rPr>
              <a:t> Record commands, observations, and evidence; remediate vulnerabilities using PowerShell cmdlets.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